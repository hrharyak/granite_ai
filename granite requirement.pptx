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D9E80-918F-A141-82B2-9025E1D6B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3EAF88-1394-2723-9A97-818837474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25374-D46C-D676-68DA-4BC139C32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FDCA-8E99-47AD-AA1F-7703EAF4DD96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5889-380F-FB77-2D6B-A28CDBA9E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7B755-F25E-EAC6-BA22-2FD8B28DF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DB379-6923-419E-BD2C-DE5A7F8287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730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6E41B-9A72-3B55-7289-A14863F2D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E9290-32E1-A853-3D91-CDC19628E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702AD-A5CB-BF3E-37B5-77011F0C8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FDCA-8E99-47AD-AA1F-7703EAF4DD96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E141D-4193-B2C1-EE1E-1B46FF158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D24D2-85C9-4E2C-D5FD-FFE49086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DB379-6923-419E-BD2C-DE5A7F8287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785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AA658-4F65-F11B-D777-85AB80C85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B0E17-E83C-ACBB-6A0A-60BCBC38B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A6EDE-B6A5-6861-67FC-536B8F55F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FDCA-8E99-47AD-AA1F-7703EAF4DD96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AACA0-38BE-237D-EAB4-65C6F1489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4E340-206E-2BB0-CBF5-69F65E1FD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DB379-6923-419E-BD2C-DE5A7F8287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676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F6F96-E9DC-E9CB-0C18-EE97E090E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122F7-DC14-294A-3A5D-FB60A94EA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1D962-1C71-BC22-0411-0C3AC73ED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7D6FA-D251-16F6-2AD8-E5BEA372D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FDCA-8E99-47AD-AA1F-7703EAF4DD96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3C52E-C45F-036E-06B7-F0F6873C4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68BE4-DDAF-9A79-B8A3-CD62985A8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DB379-6923-419E-BD2C-DE5A7F8287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86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D5BA-4978-823B-3582-112087E85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3F2CF-CF33-F51D-77F4-F46FF8AAC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33934-29BC-FB62-0983-B060E2516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6C51A8-36C1-EDBE-B967-FFBD7A83F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204DC5-AFC4-2856-DA70-B514C13A1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E69080-6F58-7AEE-276A-7E514B27E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FDCA-8E99-47AD-AA1F-7703EAF4DD96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DC52F6-C234-1510-C633-443EF4955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4DF492-AFA1-6DA6-E77F-605FA37F1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DB379-6923-419E-BD2C-DE5A7F8287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78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EA7F8-7FFC-2F32-133A-F5E70B6AE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354D56-6E8F-5FA9-4D99-40BF5A6B9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FDCA-8E99-47AD-AA1F-7703EAF4DD96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93CBEA-08CB-1FA1-3C2D-BF0E3BD04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41F0B-D9EE-CFCA-912A-0A817D7A9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DB379-6923-419E-BD2C-DE5A7F8287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054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724DB7-609B-D0E1-B851-857768265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FDCA-8E99-47AD-AA1F-7703EAF4DD96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9FEB01-9D36-66C6-047F-0E5DC7D47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E601C-EE1A-DF34-3A57-10AECD3A9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DB379-6923-419E-BD2C-DE5A7F8287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99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F46F4-0CB1-0ED1-A107-636337886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79E5C-484D-48C3-1B52-85F6EB50B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75F7-6B7B-F306-CBE9-3E543FA51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3888D-A2AF-DEAA-1D79-956CE206C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FDCA-8E99-47AD-AA1F-7703EAF4DD96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B4272-4A31-BCCE-95A3-147BD51F7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9C4FA-5217-8347-0B3E-1D0653756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DB379-6923-419E-BD2C-DE5A7F8287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199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9399-0769-4342-78CB-D0CFC1440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BB69B-0161-00AB-9240-CAB05688D44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8C954-FFDB-EF5B-B66B-C553FD493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39202-46C8-27F2-C072-79517C299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FDCA-8E99-47AD-AA1F-7703EAF4DD96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72601-7F9E-867E-2F9D-FF5803F4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401D8-B255-455C-5D39-0EFF065A4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DB379-6923-419E-BD2C-DE5A7F8287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89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3E067-901D-139E-E9BD-B50A856F4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1E811-3182-F29B-4808-42863E9DB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4B6A9-E9FE-F779-F455-51955A068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FDCA-8E99-47AD-AA1F-7703EAF4DD96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B48E-CF59-3184-A57D-B84F3ACDD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0B1A7-0630-3A95-5148-BBB085CE7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DB379-6923-419E-BD2C-DE5A7F8287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747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99AB00-4B1F-86F1-8310-45AD6B157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A3F008-4879-3175-CBD0-06883748F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A2685-19B5-727F-E90F-FF6BDC478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FDCA-8E99-47AD-AA1F-7703EAF4DD96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AA217-121A-1E0F-B56C-87B1B817E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D04B6-7B8E-8480-36AD-9268E5D28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DB379-6923-419E-BD2C-DE5A7F8287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739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44B071-395D-E5E2-64AB-A71CBE3EF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CE22B-AEB2-E770-93D6-1ED795D5A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F0BCC-FADD-0AA3-21FD-7367EBCC6B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EFDCA-8E99-47AD-AA1F-7703EAF4DD96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04DF3-A88E-6803-02DA-E5F5AB03A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8BDDC-772B-7E2D-5C05-7E294198D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2DB379-6923-419E-BD2C-DE5A7F8287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173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686CE35-320B-6C8E-7E5B-7F24A6A95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791076"/>
              </p:ext>
            </p:extLst>
          </p:nvPr>
        </p:nvGraphicFramePr>
        <p:xfrm>
          <a:off x="332232" y="1747808"/>
          <a:ext cx="11527536" cy="3043648"/>
        </p:xfrm>
        <a:graphic>
          <a:graphicData uri="http://schemas.openxmlformats.org/drawingml/2006/table">
            <a:tbl>
              <a:tblPr/>
              <a:tblGrid>
                <a:gridCol w="6655139">
                  <a:extLst>
                    <a:ext uri="{9D8B030D-6E8A-4147-A177-3AD203B41FA5}">
                      <a16:colId xmlns:a16="http://schemas.microsoft.com/office/drawing/2014/main" val="3689513548"/>
                    </a:ext>
                  </a:extLst>
                </a:gridCol>
                <a:gridCol w="4872397">
                  <a:extLst>
                    <a:ext uri="{9D8B030D-6E8A-4147-A177-3AD203B41FA5}">
                      <a16:colId xmlns:a16="http://schemas.microsoft.com/office/drawing/2014/main" val="4236564208"/>
                    </a:ext>
                  </a:extLst>
                </a:gridCol>
              </a:tblGrid>
              <a:tr h="2109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Field Challenges </a:t>
                      </a:r>
                    </a:p>
                  </a:txBody>
                  <a:tcPr marL="8426" marR="8426" marT="84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Proposed Hackathon Problem Statement   </a:t>
                      </a:r>
                    </a:p>
                  </a:txBody>
                  <a:tcPr marL="8426" marR="8426" marT="84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99320"/>
                  </a:ext>
                </a:extLst>
              </a:tr>
              <a:tr h="2832685">
                <a:tc>
                  <a:txBody>
                    <a:bodyPr/>
                    <a:lstStyle/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Manual measurement is subjective, leading to inconsistent seigniorage assessments across quarries.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Potential revenue leakage due to discrepancies between field measurements and actual block volumes.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 audit trail linking block-level measurement to dispatch and weighbridge records.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 resource and cost burden of repeated field inspections across dispersed quarry sites.</a:t>
                      </a:r>
                    </a:p>
                  </a:txBody>
                  <a:tcPr marL="8426" marR="8426" marT="84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Design an AI/Computer Vision-based system that:</a:t>
                      </a:r>
                      <a:br>
                        <a:rPr lang="en-I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</a:br>
                      <a:br>
                        <a:rPr lang="en-I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</a:br>
                      <a:r>
                        <a:rPr lang="en-I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(a) estimates granite block volume from standardized mobile-captured images. </a:t>
                      </a:r>
                      <a:br>
                        <a:rPr lang="en-I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</a:br>
                      <a:r>
                        <a:rPr lang="en-I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(b) auto-classify blocks into standard seigniorage fee categories. </a:t>
                      </a:r>
                      <a:br>
                        <a:rPr lang="en-I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</a:br>
                      <a:r>
                        <a:rPr lang="en-I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(c) provides a mobile application for lessees/quarry operators enabling GPS-tagged, timestamped image capture with block ID and quarry details. </a:t>
                      </a:r>
                      <a:br>
                        <a:rPr lang="en-I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</a:br>
                      <a:r>
                        <a:rPr lang="en-I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(d) integrates output with OMEPS 2.0 for cross-validation of AI-computed volume against weighbridge data and dispatch returns.  </a:t>
                      </a:r>
                    </a:p>
                  </a:txBody>
                  <a:tcPr marL="8426" marR="8426" marT="84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87594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B7DB5F3-F7CC-581F-5EEA-F11FC994E604}"/>
              </a:ext>
            </a:extLst>
          </p:cNvPr>
          <p:cNvSpPr txBox="1"/>
          <p:nvPr/>
        </p:nvSpPr>
        <p:spPr>
          <a:xfrm>
            <a:off x="1856803" y="666173"/>
            <a:ext cx="8478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AI-Based Granite Block Measurement and Automated Seigniorage Assessment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903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Aptos Narrow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apdmg009@outlook.com</dc:creator>
  <cp:lastModifiedBy>apdmg009@outlook.com</cp:lastModifiedBy>
  <cp:revision>1</cp:revision>
  <cp:lastPrinted>2026-10-05T10:35:29Z</cp:lastPrinted>
  <dcterms:created xsi:type="dcterms:W3CDTF">2026-10-05T10:35:08Z</dcterms:created>
  <dcterms:modified xsi:type="dcterms:W3CDTF">2026-10-05T10:35:38Z</dcterms:modified>
</cp:coreProperties>
</file>