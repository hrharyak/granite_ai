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left to right. Scale comes from a printed ArUco marker of known size: cm per pixel is the marker's real size divided by its side in pixels. The face is cut out with a segmentation model run through ONNX Runtime on the CPU, and OpenCV turns the mask into an edge and four corners. A perspective transform flattens the face into a true rectangle, then ten lines are measured across it. Length comes from front and back, width from left and right, height from all four. Volume is length times width times height and weight is volume times density, 2.7 tonnes per cubic metre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severities. MINOR is listed only. MAJOR and REJECT are boxed and taken out of the usable stone. The detector is a small YOLO-family model exported to ONNX so it runs on a normal CPU. It is only as good as its training photos, so collect and label real quarry photos and keep a separate test set. The OpenCV filter is a fallback that needs no training: black-hat finds thin dark lines, Canny finds edges, and a length-to-width test keeps cracks. It can also pick up veins and saw marks, so a person should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ten lines: a rough face is not a perfect rectangle, so two edges can hide a chip. Ten lines follow the real edge and their average is more representative. Lines 1 to 5 here run the full width and lines 6 to 10 are shorter because of the chip. The lines are placed on the flattened face, so a photo taken a little off-centre does not make the far end look shorter. Height is simply ten gaps added up, so no separate height lines are needed. Pure geometry with NumPy and OpenCV, no model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uses open-source software that runs on a CPU: OpenCV for corners, flattening and the marker, MobileSAM for the face mask, YOLOX or YOLO-nano for cracks and holes, ONNX Runtime to run the models, and NumPy with FastAPI for the maths and the service. Confirm each licence against the exact version used before deployment. Accuracy depends mainly on scale, which is why the marker is mandatory. The tape comparison on 30 to 50 blocks gives the real error to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4"/>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0F5257"/>
                </a:solidFill>
                <a:latin typeface="Cambria" pitchFamily="34" charset="0"/>
                <a:ea typeface="Cambria" pitchFamily="34" charset="-122"/>
                <a:cs typeface="Cambria" pitchFamily="34" charset="-120"/>
              </a:rPr>
              <a:t>How we measure</a:t>
            </a:r>
            <a:endParaRPr lang="en-US" sz="3600" dirty="0"/>
          </a:p>
        </p:txBody>
      </p:sp>
      <p:sp>
        <p:nvSpPr>
          <p:cNvPr id="3" name="Flow 1"/>
          <p:cNvSpPr/>
          <p:nvPr/>
        </p:nvSpPr>
        <p:spPr>
          <a:xfrm>
            <a:off x="457200" y="1051560"/>
            <a:ext cx="1554480" cy="777240"/>
          </a:xfrm>
          <a:prstGeom prst="roundRect">
            <a:avLst>
              <a:gd name="adj" fmla="val 11765"/>
            </a:avLst>
          </a:prstGeom>
          <a:solidFill>
            <a:srgbClr val="FFFFFF"/>
          </a:solidFill>
          <a:ln w="9525">
            <a:solidFill>
              <a:srgbClr val="D5DEDD"/>
            </a:solidFill>
            <a:prstDash val="solid"/>
          </a:ln>
        </p:spPr>
      </p:sp>
      <p:sp>
        <p:nvSpPr>
          <p:cNvPr id="4" name="Number 1"/>
          <p:cNvSpPr/>
          <p:nvPr/>
        </p:nvSpPr>
        <p:spPr>
          <a:xfrm>
            <a:off x="548640" y="1188720"/>
            <a:ext cx="274320" cy="274320"/>
          </a:xfrm>
          <a:prstGeom prst="ellipse">
            <a:avLst/>
          </a:prstGeom>
          <a:solidFill>
            <a:srgbClr val="0F5257"/>
          </a:solidFill>
          <a:ln w="6350">
            <a:solidFill>
              <a:srgbClr val="0F5257"/>
            </a:solidFill>
            <a:prstDash val="solid"/>
          </a:ln>
        </p:spPr>
      </p:sp>
      <p:sp>
        <p:nvSpPr>
          <p:cNvPr id="5" name="Number 1 text"/>
          <p:cNvSpPr txBox="1"/>
          <p:nvPr/>
        </p:nvSpPr>
        <p:spPr>
          <a:xfrm>
            <a:off x="548640" y="11887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Flow 1 title"/>
          <p:cNvSpPr txBox="1"/>
          <p:nvPr/>
        </p:nvSpPr>
        <p:spPr>
          <a:xfrm>
            <a:off x="914400" y="1115568"/>
            <a:ext cx="1051560" cy="274320"/>
          </a:xfrm>
          <a:prstGeom prst="rect">
            <a:avLst/>
          </a:prstGeom>
          <a:noFill/>
          <a:ln/>
        </p:spPr>
        <p:txBody>
          <a:bodyPr wrap="square" lIns="0" tIns="0" rIns="0" bIns="0" rtlCol="0" anchor="ctr"/>
          <a:lstStyle/>
          <a:p>
            <a:pPr indent="0" marL="0">
              <a:buNone/>
            </a:pPr>
            <a:r>
              <a:rPr lang="en-US" sz="1300" b="1" dirty="0">
                <a:solidFill>
                  <a:srgbClr val="1E293B"/>
                </a:solidFill>
              </a:rPr>
              <a:t>Capture</a:t>
            </a:r>
            <a:endParaRPr lang="en-US" sz="1300" dirty="0"/>
          </a:p>
        </p:txBody>
      </p:sp>
      <p:sp>
        <p:nvSpPr>
          <p:cNvPr id="7" name="Flow 1 text"/>
          <p:cNvSpPr txBox="1"/>
          <p:nvPr/>
        </p:nvSpPr>
        <p:spPr>
          <a:xfrm>
            <a:off x="914400" y="1389888"/>
            <a:ext cx="1051560" cy="274320"/>
          </a:xfrm>
          <a:prstGeom prst="rect">
            <a:avLst/>
          </a:prstGeom>
          <a:noFill/>
          <a:ln/>
        </p:spPr>
        <p:txBody>
          <a:bodyPr wrap="square" lIns="0" tIns="0" rIns="0" bIns="0" rtlCol="0" anchor="t"/>
          <a:lstStyle/>
          <a:p>
            <a:pPr indent="0" marL="0">
              <a:buNone/>
            </a:pPr>
            <a:r>
              <a:rPr lang="en-US" sz="1100" dirty="0">
                <a:solidFill>
                  <a:srgbClr val="475569"/>
                </a:solidFill>
              </a:rPr>
              <a:t>4 faces</a:t>
            </a:r>
            <a:endParaRPr lang="en-US" sz="1100" dirty="0"/>
          </a:p>
        </p:txBody>
      </p:sp>
      <p:sp>
        <p:nvSpPr>
          <p:cNvPr id="8" name="Flow 2"/>
          <p:cNvSpPr/>
          <p:nvPr/>
        </p:nvSpPr>
        <p:spPr>
          <a:xfrm>
            <a:off x="2125980" y="1051560"/>
            <a:ext cx="1554480" cy="777240"/>
          </a:xfrm>
          <a:prstGeom prst="roundRect">
            <a:avLst>
              <a:gd name="adj" fmla="val 11765"/>
            </a:avLst>
          </a:prstGeom>
          <a:solidFill>
            <a:srgbClr val="FFFFFF"/>
          </a:solidFill>
          <a:ln w="9525">
            <a:solidFill>
              <a:srgbClr val="D5DEDD"/>
            </a:solidFill>
            <a:prstDash val="solid"/>
          </a:ln>
        </p:spPr>
      </p:sp>
      <p:sp>
        <p:nvSpPr>
          <p:cNvPr id="9" name="Number 2"/>
          <p:cNvSpPr/>
          <p:nvPr/>
        </p:nvSpPr>
        <p:spPr>
          <a:xfrm>
            <a:off x="2217420" y="1188720"/>
            <a:ext cx="274320" cy="274320"/>
          </a:xfrm>
          <a:prstGeom prst="ellipse">
            <a:avLst/>
          </a:prstGeom>
          <a:solidFill>
            <a:srgbClr val="0F5257"/>
          </a:solidFill>
          <a:ln w="6350">
            <a:solidFill>
              <a:srgbClr val="0F5257"/>
            </a:solidFill>
            <a:prstDash val="solid"/>
          </a:ln>
        </p:spPr>
      </p:sp>
      <p:sp>
        <p:nvSpPr>
          <p:cNvPr id="10" name="Number 2 text"/>
          <p:cNvSpPr txBox="1"/>
          <p:nvPr/>
        </p:nvSpPr>
        <p:spPr>
          <a:xfrm>
            <a:off x="2217420" y="11887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Flow 2 title"/>
          <p:cNvSpPr txBox="1"/>
          <p:nvPr/>
        </p:nvSpPr>
        <p:spPr>
          <a:xfrm>
            <a:off x="2583180" y="1115568"/>
            <a:ext cx="1051560" cy="274320"/>
          </a:xfrm>
          <a:prstGeom prst="rect">
            <a:avLst/>
          </a:prstGeom>
          <a:noFill/>
          <a:ln/>
        </p:spPr>
        <p:txBody>
          <a:bodyPr wrap="square" lIns="0" tIns="0" rIns="0" bIns="0" rtlCol="0" anchor="ctr"/>
          <a:lstStyle/>
          <a:p>
            <a:pPr indent="0" marL="0">
              <a:buNone/>
            </a:pPr>
            <a:r>
              <a:rPr lang="en-US" sz="1300" b="1" dirty="0">
                <a:solidFill>
                  <a:srgbClr val="1E293B"/>
                </a:solidFill>
              </a:rPr>
              <a:t>Face and edge</a:t>
            </a:r>
            <a:endParaRPr lang="en-US" sz="1300" dirty="0"/>
          </a:p>
        </p:txBody>
      </p:sp>
      <p:sp>
        <p:nvSpPr>
          <p:cNvPr id="12" name="Flow 2 text"/>
          <p:cNvSpPr txBox="1"/>
          <p:nvPr/>
        </p:nvSpPr>
        <p:spPr>
          <a:xfrm>
            <a:off x="2583180" y="1389888"/>
            <a:ext cx="1051560" cy="274320"/>
          </a:xfrm>
          <a:prstGeom prst="rect">
            <a:avLst/>
          </a:prstGeom>
          <a:noFill/>
          <a:ln/>
        </p:spPr>
        <p:txBody>
          <a:bodyPr wrap="square" lIns="0" tIns="0" rIns="0" bIns="0" rtlCol="0" anchor="t"/>
          <a:lstStyle/>
          <a:p>
            <a:pPr indent="0" marL="0">
              <a:buNone/>
            </a:pPr>
            <a:r>
              <a:rPr lang="en-US" sz="1100" dirty="0">
                <a:solidFill>
                  <a:srgbClr val="475569"/>
                </a:solidFill>
              </a:rPr>
              <a:t>mask, corners</a:t>
            </a:r>
            <a:endParaRPr lang="en-US" sz="1100" dirty="0"/>
          </a:p>
        </p:txBody>
      </p:sp>
      <p:sp>
        <p:nvSpPr>
          <p:cNvPr id="13" name="Flow 3"/>
          <p:cNvSpPr/>
          <p:nvPr/>
        </p:nvSpPr>
        <p:spPr>
          <a:xfrm>
            <a:off x="3794760" y="1051560"/>
            <a:ext cx="1554480" cy="777240"/>
          </a:xfrm>
          <a:prstGeom prst="roundRect">
            <a:avLst>
              <a:gd name="adj" fmla="val 11765"/>
            </a:avLst>
          </a:prstGeom>
          <a:solidFill>
            <a:srgbClr val="FFFFFF"/>
          </a:solidFill>
          <a:ln w="9525">
            <a:solidFill>
              <a:srgbClr val="D5DEDD"/>
            </a:solidFill>
            <a:prstDash val="solid"/>
          </a:ln>
        </p:spPr>
      </p:sp>
      <p:sp>
        <p:nvSpPr>
          <p:cNvPr id="14" name="Number 3"/>
          <p:cNvSpPr/>
          <p:nvPr/>
        </p:nvSpPr>
        <p:spPr>
          <a:xfrm>
            <a:off x="3886200" y="1188720"/>
            <a:ext cx="274320" cy="274320"/>
          </a:xfrm>
          <a:prstGeom prst="ellipse">
            <a:avLst/>
          </a:prstGeom>
          <a:solidFill>
            <a:srgbClr val="0F5257"/>
          </a:solidFill>
          <a:ln w="6350">
            <a:solidFill>
              <a:srgbClr val="0F5257"/>
            </a:solidFill>
            <a:prstDash val="solid"/>
          </a:ln>
        </p:spPr>
      </p:sp>
      <p:sp>
        <p:nvSpPr>
          <p:cNvPr id="15" name="Number 3 text"/>
          <p:cNvSpPr txBox="1"/>
          <p:nvPr/>
        </p:nvSpPr>
        <p:spPr>
          <a:xfrm>
            <a:off x="3886200" y="11887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Flow 3 title"/>
          <p:cNvSpPr txBox="1"/>
          <p:nvPr/>
        </p:nvSpPr>
        <p:spPr>
          <a:xfrm>
            <a:off x="4251960" y="1115568"/>
            <a:ext cx="1051560" cy="274320"/>
          </a:xfrm>
          <a:prstGeom prst="rect">
            <a:avLst/>
          </a:prstGeom>
          <a:noFill/>
          <a:ln/>
        </p:spPr>
        <p:txBody>
          <a:bodyPr wrap="square" lIns="0" tIns="0" rIns="0" bIns="0" rtlCol="0" anchor="ctr"/>
          <a:lstStyle/>
          <a:p>
            <a:pPr indent="0" marL="0">
              <a:buNone/>
            </a:pPr>
            <a:r>
              <a:rPr lang="en-US" sz="1300" b="1" dirty="0">
                <a:solidFill>
                  <a:srgbClr val="1E293B"/>
                </a:solidFill>
              </a:rPr>
              <a:t>Scale</a:t>
            </a:r>
            <a:endParaRPr lang="en-US" sz="1300" dirty="0"/>
          </a:p>
        </p:txBody>
      </p:sp>
      <p:sp>
        <p:nvSpPr>
          <p:cNvPr id="17" name="Flow 3 text"/>
          <p:cNvSpPr txBox="1"/>
          <p:nvPr/>
        </p:nvSpPr>
        <p:spPr>
          <a:xfrm>
            <a:off x="4251960" y="1389888"/>
            <a:ext cx="1051560" cy="274320"/>
          </a:xfrm>
          <a:prstGeom prst="rect">
            <a:avLst/>
          </a:prstGeom>
          <a:noFill/>
          <a:ln/>
        </p:spPr>
        <p:txBody>
          <a:bodyPr wrap="square" lIns="0" tIns="0" rIns="0" bIns="0" rtlCol="0" anchor="t"/>
          <a:lstStyle/>
          <a:p>
            <a:pPr indent="0" marL="0">
              <a:buNone/>
            </a:pPr>
            <a:r>
              <a:rPr lang="en-US" sz="1100" dirty="0">
                <a:solidFill>
                  <a:srgbClr val="475569"/>
                </a:solidFill>
              </a:rPr>
              <a:t>ArUco marker</a:t>
            </a:r>
            <a:endParaRPr lang="en-US" sz="1100" dirty="0"/>
          </a:p>
        </p:txBody>
      </p:sp>
      <p:sp>
        <p:nvSpPr>
          <p:cNvPr id="18" name="Flow 4"/>
          <p:cNvSpPr/>
          <p:nvPr/>
        </p:nvSpPr>
        <p:spPr>
          <a:xfrm>
            <a:off x="5463540" y="1051560"/>
            <a:ext cx="1554480" cy="777240"/>
          </a:xfrm>
          <a:prstGeom prst="roundRect">
            <a:avLst>
              <a:gd name="adj" fmla="val 11765"/>
            </a:avLst>
          </a:prstGeom>
          <a:solidFill>
            <a:srgbClr val="FFFFFF"/>
          </a:solidFill>
          <a:ln w="9525">
            <a:solidFill>
              <a:srgbClr val="D5DEDD"/>
            </a:solidFill>
            <a:prstDash val="solid"/>
          </a:ln>
        </p:spPr>
      </p:sp>
      <p:sp>
        <p:nvSpPr>
          <p:cNvPr id="19" name="Number 4"/>
          <p:cNvSpPr/>
          <p:nvPr/>
        </p:nvSpPr>
        <p:spPr>
          <a:xfrm>
            <a:off x="5554980" y="1188720"/>
            <a:ext cx="274320" cy="274320"/>
          </a:xfrm>
          <a:prstGeom prst="ellipse">
            <a:avLst/>
          </a:prstGeom>
          <a:solidFill>
            <a:srgbClr val="0F5257"/>
          </a:solidFill>
          <a:ln w="6350">
            <a:solidFill>
              <a:srgbClr val="0F5257"/>
            </a:solidFill>
            <a:prstDash val="solid"/>
          </a:ln>
        </p:spPr>
      </p:sp>
      <p:sp>
        <p:nvSpPr>
          <p:cNvPr id="20" name="Number 4 text"/>
          <p:cNvSpPr txBox="1"/>
          <p:nvPr/>
        </p:nvSpPr>
        <p:spPr>
          <a:xfrm>
            <a:off x="5554980" y="11887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Flow 4 title"/>
          <p:cNvSpPr txBox="1"/>
          <p:nvPr/>
        </p:nvSpPr>
        <p:spPr>
          <a:xfrm>
            <a:off x="5920740" y="1115568"/>
            <a:ext cx="1051560" cy="274320"/>
          </a:xfrm>
          <a:prstGeom prst="rect">
            <a:avLst/>
          </a:prstGeom>
          <a:noFill/>
          <a:ln/>
        </p:spPr>
        <p:txBody>
          <a:bodyPr wrap="square" lIns="0" tIns="0" rIns="0" bIns="0" rtlCol="0" anchor="ctr"/>
          <a:lstStyle/>
          <a:p>
            <a:pPr indent="0" marL="0">
              <a:buNone/>
            </a:pPr>
            <a:r>
              <a:rPr lang="en-US" sz="1300" b="1" dirty="0">
                <a:solidFill>
                  <a:srgbClr val="1E293B"/>
                </a:solidFill>
              </a:rPr>
              <a:t>Flatten</a:t>
            </a:r>
            <a:endParaRPr lang="en-US" sz="1300" dirty="0"/>
          </a:p>
        </p:txBody>
      </p:sp>
      <p:sp>
        <p:nvSpPr>
          <p:cNvPr id="22" name="Flow 4 text"/>
          <p:cNvSpPr txBox="1"/>
          <p:nvPr/>
        </p:nvSpPr>
        <p:spPr>
          <a:xfrm>
            <a:off x="5920740" y="1389888"/>
            <a:ext cx="1051560" cy="274320"/>
          </a:xfrm>
          <a:prstGeom prst="rect">
            <a:avLst/>
          </a:prstGeom>
          <a:noFill/>
          <a:ln/>
        </p:spPr>
        <p:txBody>
          <a:bodyPr wrap="square" lIns="0" tIns="0" rIns="0" bIns="0" rtlCol="0" anchor="t"/>
          <a:lstStyle/>
          <a:p>
            <a:pPr indent="0" marL="0">
              <a:buNone/>
            </a:pPr>
            <a:r>
              <a:rPr lang="en-US" sz="1100" dirty="0">
                <a:solidFill>
                  <a:srgbClr val="475569"/>
                </a:solidFill>
              </a:rPr>
              <a:t>homography</a:t>
            </a:r>
            <a:endParaRPr lang="en-US" sz="1100" dirty="0"/>
          </a:p>
        </p:txBody>
      </p:sp>
      <p:sp>
        <p:nvSpPr>
          <p:cNvPr id="23" name="Flow 5"/>
          <p:cNvSpPr/>
          <p:nvPr/>
        </p:nvSpPr>
        <p:spPr>
          <a:xfrm>
            <a:off x="7132320" y="1051560"/>
            <a:ext cx="1554480" cy="777240"/>
          </a:xfrm>
          <a:prstGeom prst="roundRect">
            <a:avLst>
              <a:gd name="adj" fmla="val 11765"/>
            </a:avLst>
          </a:prstGeom>
          <a:solidFill>
            <a:srgbClr val="FFFFFF"/>
          </a:solidFill>
          <a:ln w="9525">
            <a:solidFill>
              <a:srgbClr val="D5DEDD"/>
            </a:solidFill>
            <a:prstDash val="solid"/>
          </a:ln>
        </p:spPr>
      </p:sp>
      <p:sp>
        <p:nvSpPr>
          <p:cNvPr id="24" name="Number 5"/>
          <p:cNvSpPr/>
          <p:nvPr/>
        </p:nvSpPr>
        <p:spPr>
          <a:xfrm>
            <a:off x="7223760" y="1188720"/>
            <a:ext cx="274320" cy="274320"/>
          </a:xfrm>
          <a:prstGeom prst="ellipse">
            <a:avLst/>
          </a:prstGeom>
          <a:solidFill>
            <a:srgbClr val="0F5257"/>
          </a:solidFill>
          <a:ln w="6350">
            <a:solidFill>
              <a:srgbClr val="0F5257"/>
            </a:solidFill>
            <a:prstDash val="solid"/>
          </a:ln>
        </p:spPr>
      </p:sp>
      <p:sp>
        <p:nvSpPr>
          <p:cNvPr id="25" name="Number 5 text"/>
          <p:cNvSpPr txBox="1"/>
          <p:nvPr/>
        </p:nvSpPr>
        <p:spPr>
          <a:xfrm>
            <a:off x="7223760" y="11887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Flow 5 title"/>
          <p:cNvSpPr txBox="1"/>
          <p:nvPr/>
        </p:nvSpPr>
        <p:spPr>
          <a:xfrm>
            <a:off x="7589520" y="1115568"/>
            <a:ext cx="1051560" cy="274320"/>
          </a:xfrm>
          <a:prstGeom prst="rect">
            <a:avLst/>
          </a:prstGeom>
          <a:noFill/>
          <a:ln/>
        </p:spPr>
        <p:txBody>
          <a:bodyPr wrap="square" lIns="0" tIns="0" rIns="0" bIns="0" rtlCol="0" anchor="ctr"/>
          <a:lstStyle/>
          <a:p>
            <a:pPr indent="0" marL="0">
              <a:buNone/>
            </a:pPr>
            <a:r>
              <a:rPr lang="en-US" sz="1300" b="1" dirty="0">
                <a:solidFill>
                  <a:srgbClr val="1E293B"/>
                </a:solidFill>
              </a:rPr>
              <a:t>Measure</a:t>
            </a:r>
            <a:endParaRPr lang="en-US" sz="1300" dirty="0"/>
          </a:p>
        </p:txBody>
      </p:sp>
      <p:sp>
        <p:nvSpPr>
          <p:cNvPr id="27" name="Flow 5 text"/>
          <p:cNvSpPr txBox="1"/>
          <p:nvPr/>
        </p:nvSpPr>
        <p:spPr>
          <a:xfrm>
            <a:off x="7589520" y="1389888"/>
            <a:ext cx="1051560" cy="274320"/>
          </a:xfrm>
          <a:prstGeom prst="rect">
            <a:avLst/>
          </a:prstGeom>
          <a:noFill/>
          <a:ln/>
        </p:spPr>
        <p:txBody>
          <a:bodyPr wrap="square" lIns="0" tIns="0" rIns="0" bIns="0" rtlCol="0" anchor="t"/>
          <a:lstStyle/>
          <a:p>
            <a:pPr indent="0" marL="0">
              <a:buNone/>
            </a:pPr>
            <a:r>
              <a:rPr lang="en-US" sz="1100" dirty="0">
                <a:solidFill>
                  <a:srgbClr val="475569"/>
                </a:solidFill>
              </a:rPr>
              <a:t>10 lines</a:t>
            </a:r>
            <a:endParaRPr lang="en-US" sz="1100" dirty="0"/>
          </a:p>
        </p:txBody>
      </p:sp>
      <p:sp>
        <p:nvSpPr>
          <p:cNvPr id="28" name="Detail card 1"/>
          <p:cNvSpPr/>
          <p:nvPr/>
        </p:nvSpPr>
        <p:spPr>
          <a:xfrm>
            <a:off x="457200" y="2011680"/>
            <a:ext cx="2651760" cy="2286000"/>
          </a:xfrm>
          <a:prstGeom prst="roundRect">
            <a:avLst>
              <a:gd name="adj" fmla="val 4000"/>
            </a:avLst>
          </a:prstGeom>
          <a:solidFill>
            <a:srgbClr val="FFFFFF"/>
          </a:solidFill>
          <a:ln w="9525">
            <a:solidFill>
              <a:srgbClr val="D5DEDD"/>
            </a:solidFill>
            <a:prstDash val="solid"/>
          </a:ln>
        </p:spPr>
      </p:sp>
      <p:sp>
        <p:nvSpPr>
          <p:cNvPr id="29" name="Detail 1 heading"/>
          <p:cNvSpPr txBox="1"/>
          <p:nvPr/>
        </p:nvSpPr>
        <p:spPr>
          <a:xfrm>
            <a:off x="594360" y="2103120"/>
            <a:ext cx="2377440" cy="292608"/>
          </a:xfrm>
          <a:prstGeom prst="rect">
            <a:avLst/>
          </a:prstGeom>
          <a:noFill/>
          <a:ln/>
        </p:spPr>
        <p:txBody>
          <a:bodyPr wrap="square" lIns="0" tIns="0" rIns="0" bIns="0" rtlCol="0" anchor="ctr"/>
          <a:lstStyle/>
          <a:p>
            <a:pPr indent="0" marL="0">
              <a:buNone/>
            </a:pPr>
            <a:r>
              <a:rPr lang="en-US" sz="1400" b="1" dirty="0">
                <a:solidFill>
                  <a:srgbClr val="0F5257"/>
                </a:solidFill>
              </a:rPr>
              <a:t>1  Capture and scale</a:t>
            </a:r>
            <a:endParaRPr lang="en-US" sz="1400" dirty="0"/>
          </a:p>
        </p:txBody>
      </p:sp>
      <p:sp>
        <p:nvSpPr>
          <p:cNvPr id="30" name="Detail 1 text"/>
          <p:cNvSpPr txBox="1"/>
          <p:nvPr/>
        </p:nvSpPr>
        <p:spPr>
          <a:xfrm>
            <a:off x="594360" y="2450592"/>
            <a:ext cx="2395728" cy="17830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rPr>
              <a:t>Photos of front, back, left and right (top optional), each square-on to the face</a:t>
            </a:r>
            <a:endParaRPr lang="en-US" sz="1100" dirty="0"/>
          </a:p>
          <a:p>
            <a:pPr marL="342900" indent="-342900">
              <a:spcAft>
                <a:spcPts val="400"/>
              </a:spcAft>
              <a:buSzPct val="100000"/>
              <a:buChar char="•"/>
            </a:pPr>
            <a:r>
              <a:rPr lang="en-US" sz="1100" dirty="0">
                <a:solidFill>
                  <a:srgbClr val="1E293B"/>
                </a:solidFill>
              </a:rPr>
              <a:t>A printed ArUco marker of known size sits flat on the face</a:t>
            </a:r>
            <a:endParaRPr lang="en-US" sz="1100" dirty="0"/>
          </a:p>
          <a:p>
            <a:pPr marL="342900" indent="-342900">
              <a:spcAft>
                <a:spcPts val="400"/>
              </a:spcAft>
              <a:buSzPct val="100000"/>
              <a:buChar char="•"/>
            </a:pPr>
            <a:r>
              <a:rPr lang="en-US" sz="1100" dirty="0">
                <a:solidFill>
                  <a:srgbClr val="1E293B"/>
                </a:solidFill>
              </a:rPr>
              <a:t>OpenCV finds the marker's four corners</a:t>
            </a:r>
            <a:endParaRPr lang="en-US" sz="1100" dirty="0"/>
          </a:p>
          <a:p>
            <a:pPr marL="342900" indent="-342900">
              <a:spcAft>
                <a:spcPts val="400"/>
              </a:spcAft>
              <a:buSzPct val="100000"/>
              <a:buChar char="•"/>
            </a:pPr>
            <a:r>
              <a:rPr lang="en-US" sz="1100" dirty="0">
                <a:solidFill>
                  <a:srgbClr val="1E293B"/>
                </a:solidFill>
              </a:rPr>
              <a:t>cm per pixel = real marker size ÷ marker side in pixels (about ±2–5%)</a:t>
            </a:r>
            <a:endParaRPr lang="en-US" sz="1100" dirty="0"/>
          </a:p>
        </p:txBody>
      </p:sp>
      <p:sp>
        <p:nvSpPr>
          <p:cNvPr id="31" name="Detail card 2"/>
          <p:cNvSpPr/>
          <p:nvPr/>
        </p:nvSpPr>
        <p:spPr>
          <a:xfrm>
            <a:off x="3246120" y="2011680"/>
            <a:ext cx="2651760" cy="2286000"/>
          </a:xfrm>
          <a:prstGeom prst="roundRect">
            <a:avLst>
              <a:gd name="adj" fmla="val 4000"/>
            </a:avLst>
          </a:prstGeom>
          <a:solidFill>
            <a:srgbClr val="FFFFFF"/>
          </a:solidFill>
          <a:ln w="9525">
            <a:solidFill>
              <a:srgbClr val="D5DEDD"/>
            </a:solidFill>
            <a:prstDash val="solid"/>
          </a:ln>
        </p:spPr>
      </p:sp>
      <p:sp>
        <p:nvSpPr>
          <p:cNvPr id="32" name="Detail 2 heading"/>
          <p:cNvSpPr txBox="1"/>
          <p:nvPr/>
        </p:nvSpPr>
        <p:spPr>
          <a:xfrm>
            <a:off x="3383280" y="2103120"/>
            <a:ext cx="2377440" cy="292608"/>
          </a:xfrm>
          <a:prstGeom prst="rect">
            <a:avLst/>
          </a:prstGeom>
          <a:noFill/>
          <a:ln/>
        </p:spPr>
        <p:txBody>
          <a:bodyPr wrap="square" lIns="0" tIns="0" rIns="0" bIns="0" rtlCol="0" anchor="ctr"/>
          <a:lstStyle/>
          <a:p>
            <a:pPr indent="0" marL="0">
              <a:buNone/>
            </a:pPr>
            <a:r>
              <a:rPr lang="en-US" sz="1400" b="1" dirty="0">
                <a:solidFill>
                  <a:srgbClr val="0F5257"/>
                </a:solidFill>
              </a:rPr>
              <a:t>2  Face and edge</a:t>
            </a:r>
            <a:endParaRPr lang="en-US" sz="1400" dirty="0"/>
          </a:p>
        </p:txBody>
      </p:sp>
      <p:sp>
        <p:nvSpPr>
          <p:cNvPr id="33" name="Detail 2 text"/>
          <p:cNvSpPr txBox="1"/>
          <p:nvPr/>
        </p:nvSpPr>
        <p:spPr>
          <a:xfrm>
            <a:off x="3383280" y="2450592"/>
            <a:ext cx="2395728" cy="17830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rPr>
              <a:t>MobileSAM (or a small YOLO-seg model) on ONNX Runtime cuts the block face out of the photo as a mask</a:t>
            </a:r>
            <a:endParaRPr lang="en-US" sz="1100" dirty="0"/>
          </a:p>
          <a:p>
            <a:pPr marL="342900" indent="-342900">
              <a:spcAft>
                <a:spcPts val="400"/>
              </a:spcAft>
              <a:buSzPct val="100000"/>
              <a:buChar char="•"/>
            </a:pPr>
            <a:r>
              <a:rPr lang="en-US" sz="1100" dirty="0">
                <a:solidFill>
                  <a:srgbClr val="1E293B"/>
                </a:solidFill>
              </a:rPr>
              <a:t>OpenCV findContours traces the edge with 12–24 points, following chips</a:t>
            </a:r>
            <a:endParaRPr lang="en-US" sz="1100" dirty="0"/>
          </a:p>
          <a:p>
            <a:pPr marL="342900" indent="-342900">
              <a:spcAft>
                <a:spcPts val="400"/>
              </a:spcAft>
              <a:buSzPct val="100000"/>
              <a:buChar char="•"/>
            </a:pPr>
            <a:r>
              <a:rPr lang="en-US" sz="1100" dirty="0">
                <a:solidFill>
                  <a:srgbClr val="1E293B"/>
                </a:solidFill>
              </a:rPr>
              <a:t>approxPolyDP gives the four corners of the face</a:t>
            </a:r>
            <a:endParaRPr lang="en-US" sz="1100" dirty="0"/>
          </a:p>
        </p:txBody>
      </p:sp>
      <p:sp>
        <p:nvSpPr>
          <p:cNvPr id="34" name="Detail card 3"/>
          <p:cNvSpPr/>
          <p:nvPr/>
        </p:nvSpPr>
        <p:spPr>
          <a:xfrm>
            <a:off x="6035040" y="2011680"/>
            <a:ext cx="2651760" cy="2286000"/>
          </a:xfrm>
          <a:prstGeom prst="roundRect">
            <a:avLst>
              <a:gd name="adj" fmla="val 4000"/>
            </a:avLst>
          </a:prstGeom>
          <a:solidFill>
            <a:srgbClr val="FFFFFF"/>
          </a:solidFill>
          <a:ln w="9525">
            <a:solidFill>
              <a:srgbClr val="D5DEDD"/>
            </a:solidFill>
            <a:prstDash val="solid"/>
          </a:ln>
        </p:spPr>
      </p:sp>
      <p:sp>
        <p:nvSpPr>
          <p:cNvPr id="35" name="Detail 3 heading"/>
          <p:cNvSpPr txBox="1"/>
          <p:nvPr/>
        </p:nvSpPr>
        <p:spPr>
          <a:xfrm>
            <a:off x="6172200" y="2103120"/>
            <a:ext cx="2377440" cy="292608"/>
          </a:xfrm>
          <a:prstGeom prst="rect">
            <a:avLst/>
          </a:prstGeom>
          <a:noFill/>
          <a:ln/>
        </p:spPr>
        <p:txBody>
          <a:bodyPr wrap="square" lIns="0" tIns="0" rIns="0" bIns="0" rtlCol="0" anchor="ctr"/>
          <a:lstStyle/>
          <a:p>
            <a:pPr indent="0" marL="0">
              <a:buNone/>
            </a:pPr>
            <a:r>
              <a:rPr lang="en-US" sz="1400" b="1" dirty="0">
                <a:solidFill>
                  <a:srgbClr val="0F5257"/>
                </a:solidFill>
              </a:rPr>
              <a:t>3  Flatten and measure</a:t>
            </a:r>
            <a:endParaRPr lang="en-US" sz="1400" dirty="0"/>
          </a:p>
        </p:txBody>
      </p:sp>
      <p:sp>
        <p:nvSpPr>
          <p:cNvPr id="36" name="Detail 3 text"/>
          <p:cNvSpPr txBox="1"/>
          <p:nvPr/>
        </p:nvSpPr>
        <p:spPr>
          <a:xfrm>
            <a:off x="6172200" y="2450592"/>
            <a:ext cx="2395728" cy="17830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rPr>
              <a:t>getPerspectiveTransform maps the four corners to a true rectangle in cm, so the photo angle no longer matters</a:t>
            </a:r>
            <a:endParaRPr lang="en-US" sz="1100" dirty="0"/>
          </a:p>
          <a:p>
            <a:pPr marL="342900" indent="-342900">
              <a:spcAft>
                <a:spcPts val="400"/>
              </a:spcAft>
              <a:buSzPct val="100000"/>
              <a:buChar char="•"/>
            </a:pPr>
            <a:r>
              <a:rPr lang="en-US" sz="1100" dirty="0">
                <a:solidFill>
                  <a:srgbClr val="1E293B"/>
                </a:solidFill>
              </a:rPr>
              <a:t>Ten lines are laid across the flat face and measured edge to edge (slide 3)</a:t>
            </a:r>
            <a:endParaRPr lang="en-US" sz="1100" dirty="0"/>
          </a:p>
          <a:p>
            <a:pPr marL="342900" indent="-342900">
              <a:spcAft>
                <a:spcPts val="400"/>
              </a:spcAft>
              <a:buSzPct val="100000"/>
              <a:buChar char="•"/>
            </a:pPr>
            <a:r>
              <a:rPr lang="en-US" sz="1100" dirty="0">
                <a:solidFill>
                  <a:srgbClr val="1E293B"/>
                </a:solidFill>
              </a:rPr>
              <a:t>Lengths are averaged per face, then across faces</a:t>
            </a:r>
            <a:endParaRPr lang="en-US" sz="1100" dirty="0"/>
          </a:p>
        </p:txBody>
      </p:sp>
      <p:sp>
        <p:nvSpPr>
          <p:cNvPr id="37" name="Result bar"/>
          <p:cNvSpPr/>
          <p:nvPr/>
        </p:nvSpPr>
        <p:spPr>
          <a:xfrm>
            <a:off x="457200" y="4434840"/>
            <a:ext cx="8229600" cy="457200"/>
          </a:xfrm>
          <a:prstGeom prst="roundRect">
            <a:avLst>
              <a:gd name="adj" fmla="val 20000"/>
            </a:avLst>
          </a:prstGeom>
          <a:solidFill>
            <a:srgbClr val="0F5257"/>
          </a:solidFill>
          <a:ln w="6350">
            <a:solidFill>
              <a:srgbClr val="0F5257"/>
            </a:solidFill>
            <a:prstDash val="solid"/>
          </a:ln>
        </p:spPr>
      </p:sp>
      <p:sp>
        <p:nvSpPr>
          <p:cNvPr id="38" name="Result text"/>
          <p:cNvSpPr txBox="1"/>
          <p:nvPr/>
        </p:nvSpPr>
        <p:spPr>
          <a:xfrm>
            <a:off x="640080" y="4434840"/>
            <a:ext cx="7863840" cy="457200"/>
          </a:xfrm>
          <a:prstGeom prst="rect">
            <a:avLst/>
          </a:prstGeom>
          <a:noFill/>
          <a:ln/>
        </p:spPr>
        <p:txBody>
          <a:bodyPr wrap="square" lIns="0" tIns="0" rIns="0" bIns="0" rtlCol="0" anchor="ctr"/>
          <a:lstStyle/>
          <a:p>
            <a:pPr algn="ctr" indent="0" marL="0">
              <a:buNone/>
            </a:pPr>
            <a:r>
              <a:rPr lang="en-US" sz="1500" b="1" dirty="0">
                <a:solidFill>
                  <a:srgbClr val="FFFFFF"/>
                </a:solidFill>
              </a:rPr>
              <a:t>Length × width × height = volume    ·    volume × 2.7 t/m³ = weight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4"/>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0F5257"/>
                </a:solidFill>
                <a:latin typeface="Cambria" pitchFamily="34" charset="0"/>
                <a:ea typeface="Cambria" pitchFamily="34" charset="-122"/>
                <a:cs typeface="Cambria" pitchFamily="34" charset="-120"/>
              </a:rPr>
              <a:t>How we check holes and cracks</a:t>
            </a:r>
            <a:endParaRPr lang="en-US" sz="3600" dirty="0"/>
          </a:p>
        </p:txBody>
      </p:sp>
      <p:sp>
        <p:nvSpPr>
          <p:cNvPr id="3" name="Left heading"/>
          <p:cNvSpPr txBox="1"/>
          <p:nvPr/>
        </p:nvSpPr>
        <p:spPr>
          <a:xfrm>
            <a:off x="457200" y="1051560"/>
            <a:ext cx="3931920" cy="292608"/>
          </a:xfrm>
          <a:prstGeom prst="rect">
            <a:avLst/>
          </a:prstGeom>
          <a:noFill/>
          <a:ln/>
        </p:spPr>
        <p:txBody>
          <a:bodyPr wrap="square" lIns="0" tIns="0" rIns="0" bIns="0" rtlCol="0" anchor="ctr"/>
          <a:lstStyle/>
          <a:p>
            <a:pPr indent="0" marL="0">
              <a:buNone/>
            </a:pPr>
            <a:r>
              <a:rPr lang="en-US" sz="1500" b="1" dirty="0">
                <a:solidFill>
                  <a:srgbClr val="0F5257"/>
                </a:solidFill>
              </a:rPr>
              <a:t>What is flagged on each photo</a:t>
            </a:r>
            <a:endParaRPr lang="en-US" sz="1500" dirty="0"/>
          </a:p>
        </p:txBody>
      </p:sp>
      <p:sp>
        <p:nvSpPr>
          <p:cNvPr id="4" name="Severity MINOR"/>
          <p:cNvSpPr/>
          <p:nvPr/>
        </p:nvSpPr>
        <p:spPr>
          <a:xfrm>
            <a:off x="457200" y="1417320"/>
            <a:ext cx="3931920" cy="886968"/>
          </a:xfrm>
          <a:prstGeom prst="roundRect">
            <a:avLst>
              <a:gd name="adj" fmla="val 10309"/>
            </a:avLst>
          </a:prstGeom>
          <a:solidFill>
            <a:srgbClr val="FFFFFF"/>
          </a:solidFill>
          <a:ln w="9525">
            <a:solidFill>
              <a:srgbClr val="D5DEDD"/>
            </a:solidFill>
            <a:prstDash val="solid"/>
          </a:ln>
        </p:spPr>
      </p:sp>
      <p:sp>
        <p:nvSpPr>
          <p:cNvPr id="5" name="MINOR dot"/>
          <p:cNvSpPr/>
          <p:nvPr/>
        </p:nvSpPr>
        <p:spPr>
          <a:xfrm>
            <a:off x="594360" y="1527048"/>
            <a:ext cx="274320" cy="274320"/>
          </a:xfrm>
          <a:prstGeom prst="ellipse">
            <a:avLst/>
          </a:prstGeom>
          <a:solidFill>
            <a:srgbClr val="94A3B8"/>
          </a:solidFill>
          <a:ln w="6350">
            <a:solidFill>
              <a:srgbClr val="94A3B8"/>
            </a:solidFill>
            <a:prstDash val="solid"/>
          </a:ln>
        </p:spPr>
      </p:sp>
      <p:sp>
        <p:nvSpPr>
          <p:cNvPr id="6" name="MINOR label"/>
          <p:cNvSpPr txBox="1"/>
          <p:nvPr/>
        </p:nvSpPr>
        <p:spPr>
          <a:xfrm>
            <a:off x="1005840" y="1508760"/>
            <a:ext cx="3291840" cy="274320"/>
          </a:xfrm>
          <a:prstGeom prst="rect">
            <a:avLst/>
          </a:prstGeom>
          <a:noFill/>
          <a:ln/>
        </p:spPr>
        <p:txBody>
          <a:bodyPr wrap="square" lIns="0" tIns="0" rIns="0" bIns="0" rtlCol="0" anchor="ctr"/>
          <a:lstStyle/>
          <a:p>
            <a:pPr indent="0" marL="0">
              <a:buNone/>
            </a:pPr>
            <a:r>
              <a:rPr lang="en-US" sz="1400" b="1" dirty="0">
                <a:solidFill>
                  <a:srgbClr val="1E293B"/>
                </a:solidFill>
              </a:rPr>
              <a:t>MINOR</a:t>
            </a:r>
            <a:endParaRPr lang="en-US" sz="1400" dirty="0"/>
          </a:p>
        </p:txBody>
      </p:sp>
      <p:sp>
        <p:nvSpPr>
          <p:cNvPr id="7" name="MINOR text"/>
          <p:cNvSpPr txBox="1"/>
          <p:nvPr/>
        </p:nvSpPr>
        <p:spPr>
          <a:xfrm>
            <a:off x="1005840" y="1801368"/>
            <a:ext cx="3291840" cy="457200"/>
          </a:xfrm>
          <a:prstGeom prst="rect">
            <a:avLst/>
          </a:prstGeom>
          <a:noFill/>
          <a:ln/>
        </p:spPr>
        <p:txBody>
          <a:bodyPr wrap="square" lIns="0" tIns="0" rIns="0" bIns="0" rtlCol="0" anchor="t"/>
          <a:lstStyle/>
          <a:p>
            <a:pPr indent="0" marL="0">
              <a:buNone/>
            </a:pPr>
            <a:r>
              <a:rPr lang="en-US" sz="1100" dirty="0">
                <a:solidFill>
                  <a:srgbClr val="475569"/>
                </a:solidFill>
              </a:rPr>
              <a:t>Cosmetic marks, soil and dust that washes off. Shown and listed in the report.</a:t>
            </a:r>
            <a:endParaRPr lang="en-US" sz="1100" dirty="0"/>
          </a:p>
        </p:txBody>
      </p:sp>
      <p:sp>
        <p:nvSpPr>
          <p:cNvPr id="8" name="Severity MAJOR"/>
          <p:cNvSpPr/>
          <p:nvPr/>
        </p:nvSpPr>
        <p:spPr>
          <a:xfrm>
            <a:off x="457200" y="2395728"/>
            <a:ext cx="3931920" cy="886968"/>
          </a:xfrm>
          <a:prstGeom prst="roundRect">
            <a:avLst>
              <a:gd name="adj" fmla="val 10309"/>
            </a:avLst>
          </a:prstGeom>
          <a:solidFill>
            <a:srgbClr val="FFFFFF"/>
          </a:solidFill>
          <a:ln w="9525">
            <a:solidFill>
              <a:srgbClr val="D5DEDD"/>
            </a:solidFill>
            <a:prstDash val="solid"/>
          </a:ln>
        </p:spPr>
      </p:sp>
      <p:sp>
        <p:nvSpPr>
          <p:cNvPr id="9" name="MAJOR dot"/>
          <p:cNvSpPr/>
          <p:nvPr/>
        </p:nvSpPr>
        <p:spPr>
          <a:xfrm>
            <a:off x="594360" y="2505456"/>
            <a:ext cx="274320" cy="274320"/>
          </a:xfrm>
          <a:prstGeom prst="ellipse">
            <a:avLst/>
          </a:prstGeom>
          <a:solidFill>
            <a:srgbClr val="F59E0B"/>
          </a:solidFill>
          <a:ln w="6350">
            <a:solidFill>
              <a:srgbClr val="F59E0B"/>
            </a:solidFill>
            <a:prstDash val="solid"/>
          </a:ln>
        </p:spPr>
      </p:sp>
      <p:sp>
        <p:nvSpPr>
          <p:cNvPr id="10" name="MAJOR label"/>
          <p:cNvSpPr txBox="1"/>
          <p:nvPr/>
        </p:nvSpPr>
        <p:spPr>
          <a:xfrm>
            <a:off x="1005840" y="2487168"/>
            <a:ext cx="3291840" cy="274320"/>
          </a:xfrm>
          <a:prstGeom prst="rect">
            <a:avLst/>
          </a:prstGeom>
          <a:noFill/>
          <a:ln/>
        </p:spPr>
        <p:txBody>
          <a:bodyPr wrap="square" lIns="0" tIns="0" rIns="0" bIns="0" rtlCol="0" anchor="ctr"/>
          <a:lstStyle/>
          <a:p>
            <a:pPr indent="0" marL="0">
              <a:buNone/>
            </a:pPr>
            <a:r>
              <a:rPr lang="en-US" sz="1400" b="1" dirty="0">
                <a:solidFill>
                  <a:srgbClr val="1E293B"/>
                </a:solidFill>
              </a:rPr>
              <a:t>MAJOR</a:t>
            </a:r>
            <a:endParaRPr lang="en-US" sz="1400" dirty="0"/>
          </a:p>
        </p:txBody>
      </p:sp>
      <p:sp>
        <p:nvSpPr>
          <p:cNvPr id="11" name="MAJOR text"/>
          <p:cNvSpPr txBox="1"/>
          <p:nvPr/>
        </p:nvSpPr>
        <p:spPr>
          <a:xfrm>
            <a:off x="1005840" y="2779776"/>
            <a:ext cx="3291840" cy="457200"/>
          </a:xfrm>
          <a:prstGeom prst="rect">
            <a:avLst/>
          </a:prstGeom>
          <a:noFill/>
          <a:ln/>
        </p:spPr>
        <p:txBody>
          <a:bodyPr wrap="square" lIns="0" tIns="0" rIns="0" bIns="0" rtlCol="0" anchor="t"/>
          <a:lstStyle/>
          <a:p>
            <a:pPr indent="0" marL="0">
              <a:buNone/>
            </a:pPr>
            <a:r>
              <a:rPr lang="en-US" sz="1100" dirty="0">
                <a:solidFill>
                  <a:srgbClr val="475569"/>
                </a:solidFill>
              </a:rPr>
              <a:t>Local damage near the surface. A box with a safety margin is drawn, and that part is left out of the usable stone.</a:t>
            </a:r>
            <a:endParaRPr lang="en-US" sz="1100" dirty="0"/>
          </a:p>
        </p:txBody>
      </p:sp>
      <p:sp>
        <p:nvSpPr>
          <p:cNvPr id="12" name="Severity REJECT"/>
          <p:cNvSpPr/>
          <p:nvPr/>
        </p:nvSpPr>
        <p:spPr>
          <a:xfrm>
            <a:off x="457200" y="3374136"/>
            <a:ext cx="3931920" cy="886968"/>
          </a:xfrm>
          <a:prstGeom prst="roundRect">
            <a:avLst>
              <a:gd name="adj" fmla="val 10309"/>
            </a:avLst>
          </a:prstGeom>
          <a:solidFill>
            <a:srgbClr val="FFFFFF"/>
          </a:solidFill>
          <a:ln w="9525">
            <a:solidFill>
              <a:srgbClr val="D5DEDD"/>
            </a:solidFill>
            <a:prstDash val="solid"/>
          </a:ln>
        </p:spPr>
      </p:sp>
      <p:sp>
        <p:nvSpPr>
          <p:cNvPr id="13" name="REJECT dot"/>
          <p:cNvSpPr/>
          <p:nvPr/>
        </p:nvSpPr>
        <p:spPr>
          <a:xfrm>
            <a:off x="594360" y="3483864"/>
            <a:ext cx="274320" cy="274320"/>
          </a:xfrm>
          <a:prstGeom prst="ellipse">
            <a:avLst/>
          </a:prstGeom>
          <a:solidFill>
            <a:srgbClr val="DC2626"/>
          </a:solidFill>
          <a:ln w="6350">
            <a:solidFill>
              <a:srgbClr val="DC2626"/>
            </a:solidFill>
            <a:prstDash val="solid"/>
          </a:ln>
        </p:spPr>
      </p:sp>
      <p:sp>
        <p:nvSpPr>
          <p:cNvPr id="14" name="REJECT label"/>
          <p:cNvSpPr txBox="1"/>
          <p:nvPr/>
        </p:nvSpPr>
        <p:spPr>
          <a:xfrm>
            <a:off x="1005840" y="3465576"/>
            <a:ext cx="3291840" cy="274320"/>
          </a:xfrm>
          <a:prstGeom prst="rect">
            <a:avLst/>
          </a:prstGeom>
          <a:noFill/>
          <a:ln/>
        </p:spPr>
        <p:txBody>
          <a:bodyPr wrap="square" lIns="0" tIns="0" rIns="0" bIns="0" rtlCol="0" anchor="ctr"/>
          <a:lstStyle/>
          <a:p>
            <a:pPr indent="0" marL="0">
              <a:buNone/>
            </a:pPr>
            <a:r>
              <a:rPr lang="en-US" sz="1400" b="1" dirty="0">
                <a:solidFill>
                  <a:srgbClr val="1E293B"/>
                </a:solidFill>
              </a:rPr>
              <a:t>REJECT</a:t>
            </a:r>
            <a:endParaRPr lang="en-US" sz="1400" dirty="0"/>
          </a:p>
        </p:txBody>
      </p:sp>
      <p:sp>
        <p:nvSpPr>
          <p:cNvPr id="15" name="REJECT text"/>
          <p:cNvSpPr txBox="1"/>
          <p:nvPr/>
        </p:nvSpPr>
        <p:spPr>
          <a:xfrm>
            <a:off x="1005840" y="3758184"/>
            <a:ext cx="3291840" cy="457200"/>
          </a:xfrm>
          <a:prstGeom prst="rect">
            <a:avLst/>
          </a:prstGeom>
          <a:noFill/>
          <a:ln/>
        </p:spPr>
        <p:txBody>
          <a:bodyPr wrap="square" lIns="0" tIns="0" rIns="0" bIns="0" rtlCol="0" anchor="t"/>
          <a:lstStyle/>
          <a:p>
            <a:pPr indent="0" marL="0">
              <a:buNone/>
            </a:pPr>
            <a:r>
              <a:rPr lang="en-US" sz="1100" dirty="0">
                <a:solidFill>
                  <a:srgbClr val="475569"/>
                </a:solidFill>
              </a:rPr>
              <a:t>A crack, void or hole that splits or hollows the block. The whole region is excluded and the block is flagged for review.</a:t>
            </a:r>
            <a:endParaRPr lang="en-US" sz="1100" dirty="0"/>
          </a:p>
        </p:txBody>
      </p:sp>
      <p:sp>
        <p:nvSpPr>
          <p:cNvPr id="16" name="Detection steps card"/>
          <p:cNvSpPr/>
          <p:nvPr/>
        </p:nvSpPr>
        <p:spPr>
          <a:xfrm>
            <a:off x="4663440" y="1051560"/>
            <a:ext cx="4023360" cy="3319272"/>
          </a:xfrm>
          <a:prstGeom prst="roundRect">
            <a:avLst>
              <a:gd name="adj" fmla="val 2755"/>
            </a:avLst>
          </a:prstGeom>
          <a:solidFill>
            <a:srgbClr val="FFFFFF"/>
          </a:solidFill>
          <a:ln w="9525">
            <a:solidFill>
              <a:srgbClr val="D5DEDD"/>
            </a:solidFill>
            <a:prstDash val="solid"/>
          </a:ln>
        </p:spPr>
      </p:sp>
      <p:sp>
        <p:nvSpPr>
          <p:cNvPr id="17" name="Right heading"/>
          <p:cNvSpPr txBox="1"/>
          <p:nvPr/>
        </p:nvSpPr>
        <p:spPr>
          <a:xfrm>
            <a:off x="4846320" y="1143000"/>
            <a:ext cx="3657600" cy="292608"/>
          </a:xfrm>
          <a:prstGeom prst="rect">
            <a:avLst/>
          </a:prstGeom>
          <a:noFill/>
          <a:ln/>
        </p:spPr>
        <p:txBody>
          <a:bodyPr wrap="square" lIns="0" tIns="0" rIns="0" bIns="0" rtlCol="0" anchor="ctr"/>
          <a:lstStyle/>
          <a:p>
            <a:pPr indent="0" marL="0">
              <a:buNone/>
            </a:pPr>
            <a:r>
              <a:rPr lang="en-US" sz="1500" b="1" dirty="0">
                <a:solidFill>
                  <a:srgbClr val="0F5257"/>
                </a:solidFill>
              </a:rPr>
              <a:t>Open-source detection (CPU)</a:t>
            </a:r>
            <a:endParaRPr lang="en-US" sz="1500" dirty="0"/>
          </a:p>
        </p:txBody>
      </p:sp>
      <p:sp>
        <p:nvSpPr>
          <p:cNvPr id="18" name="Number 1"/>
          <p:cNvSpPr/>
          <p:nvPr/>
        </p:nvSpPr>
        <p:spPr>
          <a:xfrm>
            <a:off x="4846320" y="1545336"/>
            <a:ext cx="274320" cy="274320"/>
          </a:xfrm>
          <a:prstGeom prst="ellipse">
            <a:avLst/>
          </a:prstGeom>
          <a:solidFill>
            <a:srgbClr val="0F5257"/>
          </a:solidFill>
          <a:ln w="6350">
            <a:solidFill>
              <a:srgbClr val="0F5257"/>
            </a:solidFill>
            <a:prstDash val="solid"/>
          </a:ln>
        </p:spPr>
      </p:sp>
      <p:sp>
        <p:nvSpPr>
          <p:cNvPr id="19" name="Number 1 text"/>
          <p:cNvSpPr txBox="1"/>
          <p:nvPr/>
        </p:nvSpPr>
        <p:spPr>
          <a:xfrm>
            <a:off x="4846320" y="15453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Detection 1 title"/>
          <p:cNvSpPr txBox="1"/>
          <p:nvPr/>
        </p:nvSpPr>
        <p:spPr>
          <a:xfrm>
            <a:off x="5230368" y="1527048"/>
            <a:ext cx="3337560" cy="219456"/>
          </a:xfrm>
          <a:prstGeom prst="rect">
            <a:avLst/>
          </a:prstGeom>
          <a:noFill/>
          <a:ln/>
        </p:spPr>
        <p:txBody>
          <a:bodyPr wrap="square" lIns="0" tIns="0" rIns="0" bIns="0" rtlCol="0" anchor="ctr"/>
          <a:lstStyle/>
          <a:p>
            <a:pPr indent="0" marL="0">
              <a:buNone/>
            </a:pPr>
            <a:r>
              <a:rPr lang="en-US" sz="1200" b="1" dirty="0">
                <a:solidFill>
                  <a:srgbClr val="1E293B"/>
                </a:solidFill>
              </a:rPr>
              <a:t>Trained detector</a:t>
            </a:r>
            <a:endParaRPr lang="en-US" sz="1200" dirty="0"/>
          </a:p>
        </p:txBody>
      </p:sp>
      <p:sp>
        <p:nvSpPr>
          <p:cNvPr id="21" name="Detection 1 text"/>
          <p:cNvSpPr txBox="1"/>
          <p:nvPr/>
        </p:nvSpPr>
        <p:spPr>
          <a:xfrm>
            <a:off x="5230368" y="1755648"/>
            <a:ext cx="3337560" cy="457200"/>
          </a:xfrm>
          <a:prstGeom prst="rect">
            <a:avLst/>
          </a:prstGeom>
          <a:noFill/>
          <a:ln/>
        </p:spPr>
        <p:txBody>
          <a:bodyPr wrap="square" lIns="0" tIns="0" rIns="0" bIns="0" rtlCol="0" anchor="t"/>
          <a:lstStyle/>
          <a:p>
            <a:pPr indent="0" marL="0">
              <a:buNone/>
            </a:pPr>
            <a:r>
              <a:rPr lang="en-US" sz="1000" dirty="0">
                <a:solidFill>
                  <a:srgbClr val="475569"/>
                </a:solidFill>
              </a:rPr>
              <a:t>YOLOX or YOLO-nano, exported to ONNX and run with ONNX Runtime. Classes: crack, hole, void, chip, vein, soil. Trained on 300–500 labelled quarry photos per class, with a separate test set.</a:t>
            </a:r>
            <a:endParaRPr lang="en-US" sz="1000" dirty="0"/>
          </a:p>
        </p:txBody>
      </p:sp>
      <p:sp>
        <p:nvSpPr>
          <p:cNvPr id="22" name="Number 2"/>
          <p:cNvSpPr/>
          <p:nvPr/>
        </p:nvSpPr>
        <p:spPr>
          <a:xfrm>
            <a:off x="4846320" y="2249424"/>
            <a:ext cx="274320" cy="274320"/>
          </a:xfrm>
          <a:prstGeom prst="ellipse">
            <a:avLst/>
          </a:prstGeom>
          <a:solidFill>
            <a:srgbClr val="0F5257"/>
          </a:solidFill>
          <a:ln w="6350">
            <a:solidFill>
              <a:srgbClr val="0F5257"/>
            </a:solidFill>
            <a:prstDash val="solid"/>
          </a:ln>
        </p:spPr>
      </p:sp>
      <p:sp>
        <p:nvSpPr>
          <p:cNvPr id="23" name="Number 2 text"/>
          <p:cNvSpPr txBox="1"/>
          <p:nvPr/>
        </p:nvSpPr>
        <p:spPr>
          <a:xfrm>
            <a:off x="4846320" y="224942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4" name="Detection 2 title"/>
          <p:cNvSpPr txBox="1"/>
          <p:nvPr/>
        </p:nvSpPr>
        <p:spPr>
          <a:xfrm>
            <a:off x="5230368" y="2231136"/>
            <a:ext cx="3337560" cy="219456"/>
          </a:xfrm>
          <a:prstGeom prst="rect">
            <a:avLst/>
          </a:prstGeom>
          <a:noFill/>
          <a:ln/>
        </p:spPr>
        <p:txBody>
          <a:bodyPr wrap="square" lIns="0" tIns="0" rIns="0" bIns="0" rtlCol="0" anchor="ctr"/>
          <a:lstStyle/>
          <a:p>
            <a:pPr indent="0" marL="0">
              <a:buNone/>
            </a:pPr>
            <a:r>
              <a:rPr lang="en-US" sz="1200" b="1" dirty="0">
                <a:solidFill>
                  <a:srgbClr val="1E293B"/>
                </a:solidFill>
              </a:rPr>
              <a:t>OpenCV filter</a:t>
            </a:r>
            <a:endParaRPr lang="en-US" sz="1200" dirty="0"/>
          </a:p>
        </p:txBody>
      </p:sp>
      <p:sp>
        <p:nvSpPr>
          <p:cNvPr id="25" name="Detection 2 text"/>
          <p:cNvSpPr txBox="1"/>
          <p:nvPr/>
        </p:nvSpPr>
        <p:spPr>
          <a:xfrm>
            <a:off x="5230368" y="2459736"/>
            <a:ext cx="3337560" cy="457200"/>
          </a:xfrm>
          <a:prstGeom prst="rect">
            <a:avLst/>
          </a:prstGeom>
          <a:noFill/>
          <a:ln/>
        </p:spPr>
        <p:txBody>
          <a:bodyPr wrap="square" lIns="0" tIns="0" rIns="0" bIns="0" rtlCol="0" anchor="t"/>
          <a:lstStyle/>
          <a:p>
            <a:pPr indent="0" marL="0">
              <a:buNone/>
            </a:pPr>
            <a:r>
              <a:rPr lang="en-US" sz="1000" dirty="0">
                <a:solidFill>
                  <a:srgbClr val="475569"/>
                </a:solidFill>
              </a:rPr>
              <a:t>Grey, even out the light (CLAHE), highlight thin dark lines (black-hat), Canny edges, keep long thin connected shapes as cracks and dark round blobs as holes.</a:t>
            </a:r>
            <a:endParaRPr lang="en-US" sz="1000" dirty="0"/>
          </a:p>
        </p:txBody>
      </p:sp>
      <p:sp>
        <p:nvSpPr>
          <p:cNvPr id="26" name="Number 3"/>
          <p:cNvSpPr/>
          <p:nvPr/>
        </p:nvSpPr>
        <p:spPr>
          <a:xfrm>
            <a:off x="4846320" y="2953512"/>
            <a:ext cx="274320" cy="274320"/>
          </a:xfrm>
          <a:prstGeom prst="ellipse">
            <a:avLst/>
          </a:prstGeom>
          <a:solidFill>
            <a:srgbClr val="0F5257"/>
          </a:solidFill>
          <a:ln w="6350">
            <a:solidFill>
              <a:srgbClr val="0F5257"/>
            </a:solidFill>
            <a:prstDash val="solid"/>
          </a:ln>
        </p:spPr>
      </p:sp>
      <p:sp>
        <p:nvSpPr>
          <p:cNvPr id="27" name="Number 3 text"/>
          <p:cNvSpPr txBox="1"/>
          <p:nvPr/>
        </p:nvSpPr>
        <p:spPr>
          <a:xfrm>
            <a:off x="4846320" y="295351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8" name="Detection 3 title"/>
          <p:cNvSpPr txBox="1"/>
          <p:nvPr/>
        </p:nvSpPr>
        <p:spPr>
          <a:xfrm>
            <a:off x="5230368" y="2935224"/>
            <a:ext cx="3337560" cy="219456"/>
          </a:xfrm>
          <a:prstGeom prst="rect">
            <a:avLst/>
          </a:prstGeom>
          <a:noFill/>
          <a:ln/>
        </p:spPr>
        <p:txBody>
          <a:bodyPr wrap="square" lIns="0" tIns="0" rIns="0" bIns="0" rtlCol="0" anchor="ctr"/>
          <a:lstStyle/>
          <a:p>
            <a:pPr indent="0" marL="0">
              <a:buNone/>
            </a:pPr>
            <a:r>
              <a:rPr lang="en-US" sz="1200" b="1" dirty="0">
                <a:solidFill>
                  <a:srgbClr val="1E293B"/>
                </a:solidFill>
              </a:rPr>
              <a:t>Severity rules</a:t>
            </a:r>
            <a:endParaRPr lang="en-US" sz="1200" dirty="0"/>
          </a:p>
        </p:txBody>
      </p:sp>
      <p:sp>
        <p:nvSpPr>
          <p:cNvPr id="29" name="Detection 3 text"/>
          <p:cNvSpPr txBox="1"/>
          <p:nvPr/>
        </p:nvSpPr>
        <p:spPr>
          <a:xfrm>
            <a:off x="5230368" y="3163824"/>
            <a:ext cx="3337560" cy="457200"/>
          </a:xfrm>
          <a:prstGeom prst="rect">
            <a:avLst/>
          </a:prstGeom>
          <a:noFill/>
          <a:ln/>
        </p:spPr>
        <p:txBody>
          <a:bodyPr wrap="square" lIns="0" tIns="0" rIns="0" bIns="0" rtlCol="0" anchor="t"/>
          <a:lstStyle/>
          <a:p>
            <a:pPr indent="0" marL="0">
              <a:buNone/>
            </a:pPr>
            <a:r>
              <a:rPr lang="en-US" sz="1000" dirty="0">
                <a:solidFill>
                  <a:srgbClr val="475569"/>
                </a:solidFill>
              </a:rPr>
              <a:t>Size and position decide MINOR, MAJOR or REJECT: a crack that crosses the face or a large hole is REJECT.</a:t>
            </a:r>
            <a:endParaRPr lang="en-US" sz="1000" dirty="0"/>
          </a:p>
        </p:txBody>
      </p:sp>
      <p:sp>
        <p:nvSpPr>
          <p:cNvPr id="30" name="Number 4"/>
          <p:cNvSpPr/>
          <p:nvPr/>
        </p:nvSpPr>
        <p:spPr>
          <a:xfrm>
            <a:off x="4846320" y="3657600"/>
            <a:ext cx="274320" cy="274320"/>
          </a:xfrm>
          <a:prstGeom prst="ellipse">
            <a:avLst/>
          </a:prstGeom>
          <a:solidFill>
            <a:srgbClr val="0F5257"/>
          </a:solidFill>
          <a:ln w="6350">
            <a:solidFill>
              <a:srgbClr val="0F5257"/>
            </a:solidFill>
            <a:prstDash val="solid"/>
          </a:ln>
        </p:spPr>
      </p:sp>
      <p:sp>
        <p:nvSpPr>
          <p:cNvPr id="31" name="Number 4 text"/>
          <p:cNvSpPr txBox="1"/>
          <p:nvPr/>
        </p:nvSpPr>
        <p:spPr>
          <a:xfrm>
            <a:off x="4846320" y="365760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2" name="Detection 4 title"/>
          <p:cNvSpPr txBox="1"/>
          <p:nvPr/>
        </p:nvSpPr>
        <p:spPr>
          <a:xfrm>
            <a:off x="5230368" y="3639312"/>
            <a:ext cx="3337560" cy="219456"/>
          </a:xfrm>
          <a:prstGeom prst="rect">
            <a:avLst/>
          </a:prstGeom>
          <a:noFill/>
          <a:ln/>
        </p:spPr>
        <p:txBody>
          <a:bodyPr wrap="square" lIns="0" tIns="0" rIns="0" bIns="0" rtlCol="0" anchor="ctr"/>
          <a:lstStyle/>
          <a:p>
            <a:pPr indent="0" marL="0">
              <a:buNone/>
            </a:pPr>
            <a:r>
              <a:rPr lang="en-US" sz="1200" b="1" dirty="0">
                <a:solidFill>
                  <a:srgbClr val="1E293B"/>
                </a:solidFill>
              </a:rPr>
              <a:t>Used in the result</a:t>
            </a:r>
            <a:endParaRPr lang="en-US" sz="1200" dirty="0"/>
          </a:p>
        </p:txBody>
      </p:sp>
      <p:sp>
        <p:nvSpPr>
          <p:cNvPr id="33" name="Detection 4 text"/>
          <p:cNvSpPr txBox="1"/>
          <p:nvPr/>
        </p:nvSpPr>
        <p:spPr>
          <a:xfrm>
            <a:off x="5230368" y="3867912"/>
            <a:ext cx="3337560" cy="457200"/>
          </a:xfrm>
          <a:prstGeom prst="rect">
            <a:avLst/>
          </a:prstGeom>
          <a:noFill/>
          <a:ln/>
        </p:spPr>
        <p:txBody>
          <a:bodyPr wrap="square" lIns="0" tIns="0" rIns="0" bIns="0" rtlCol="0" anchor="t"/>
          <a:lstStyle/>
          <a:p>
            <a:pPr indent="0" marL="0">
              <a:buNone/>
            </a:pPr>
            <a:r>
              <a:rPr lang="en-US" sz="1000" dirty="0">
                <a:solidFill>
                  <a:srgbClr val="475569"/>
                </a:solidFill>
              </a:rPr>
              <a:t>Boxes are drawn on the photo and listed. MAJOR and REJECT regions are removed before the 10 lines are laid, so lines only measure sound stone.</a:t>
            </a:r>
            <a:endParaRPr lang="en-US" sz="1000" dirty="0"/>
          </a:p>
        </p:txBody>
      </p:sp>
      <p:sp>
        <p:nvSpPr>
          <p:cNvPr id="34" name="Limit note"/>
          <p:cNvSpPr txBox="1"/>
          <p:nvPr/>
        </p:nvSpPr>
        <p:spPr>
          <a:xfrm>
            <a:off x="457200" y="4498848"/>
            <a:ext cx="8229600" cy="411480"/>
          </a:xfrm>
          <a:prstGeom prst="rect">
            <a:avLst/>
          </a:prstGeom>
          <a:noFill/>
          <a:ln/>
        </p:spPr>
        <p:txBody>
          <a:bodyPr wrap="square" lIns="0" tIns="0" rIns="0" bIns="0" rtlCol="0" anchor="ctr"/>
          <a:lstStyle/>
          <a:p>
            <a:pPr indent="0" marL="0">
              <a:buNone/>
            </a:pPr>
            <a:r>
              <a:rPr lang="en-US" sz="1200" i="1" dirty="0">
                <a:solidFill>
                  <a:srgbClr val="475569"/>
                </a:solidFill>
              </a:rPr>
              <a:t>Only visible surface defects can be found. The bottom face and the inside of a block cannot be judged from photographs, so the report says so.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4"/>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0F5257"/>
                </a:solidFill>
                <a:latin typeface="Cambria" pitchFamily="34" charset="0"/>
                <a:ea typeface="Cambria" pitchFamily="34" charset="-122"/>
                <a:cs typeface="Cambria" pitchFamily="34" charset="-120"/>
              </a:rPr>
              <a:t>How the 10 lines are made</a:t>
            </a:r>
            <a:endParaRPr lang="en-US" sz="3600" dirty="0"/>
          </a:p>
        </p:txBody>
      </p:sp>
      <p:sp>
        <p:nvSpPr>
          <p:cNvPr id="3" name="Face"/>
          <p:cNvSpPr/>
          <p:nvPr/>
        </p:nvSpPr>
        <p:spPr>
          <a:xfrm>
            <a:off x="548640" y="1097280"/>
            <a:ext cx="3840480" cy="2834640"/>
          </a:xfrm>
          <a:prstGeom prst="rect">
            <a:avLst/>
          </a:prstGeom>
          <a:solidFill>
            <a:srgbClr val="D9E2E1"/>
          </a:solidFill>
          <a:ln w="12700">
            <a:solidFill>
              <a:srgbClr val="94A3B8"/>
            </a:solidFill>
            <a:prstDash val="solid"/>
          </a:ln>
        </p:spPr>
      </p:sp>
      <p:sp>
        <p:nvSpPr>
          <p:cNvPr id="4" name="Chipped corner"/>
          <p:cNvSpPr/>
          <p:nvPr/>
        </p:nvSpPr>
        <p:spPr>
          <a:xfrm>
            <a:off x="3291840" y="2514600"/>
            <a:ext cx="1097280" cy="1417320"/>
          </a:xfrm>
          <a:prstGeom prst="rect">
            <a:avLst/>
          </a:prstGeom>
          <a:solidFill>
            <a:srgbClr val="F1F5F4"/>
          </a:solidFill>
          <a:ln w="6350">
            <a:solidFill>
              <a:srgbClr val="F1F5F4"/>
            </a:solidFill>
            <a:prstDash val="solid"/>
          </a:ln>
        </p:spPr>
      </p:sp>
      <p:sp>
        <p:nvSpPr>
          <p:cNvPr id="5" name="Line 1"/>
          <p:cNvSpPr/>
          <p:nvPr/>
        </p:nvSpPr>
        <p:spPr>
          <a:xfrm>
            <a:off x="548640" y="1239012"/>
            <a:ext cx="3840480" cy="0"/>
          </a:xfrm>
          <a:prstGeom prst="line">
            <a:avLst/>
          </a:prstGeom>
          <a:noFill/>
          <a:ln w="25400">
            <a:solidFill>
              <a:srgbClr val="0F5257"/>
            </a:solidFill>
            <a:prstDash val="solid"/>
          </a:ln>
        </p:spPr>
      </p:sp>
      <p:sp>
        <p:nvSpPr>
          <p:cNvPr id="6" name="Line 1 number"/>
          <p:cNvSpPr txBox="1"/>
          <p:nvPr/>
        </p:nvSpPr>
        <p:spPr>
          <a:xfrm>
            <a:off x="603504" y="1097280"/>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1</a:t>
            </a:r>
            <a:endParaRPr lang="en-US" sz="1000" dirty="0"/>
          </a:p>
        </p:txBody>
      </p:sp>
      <p:sp>
        <p:nvSpPr>
          <p:cNvPr id="7" name="Line 2"/>
          <p:cNvSpPr/>
          <p:nvPr/>
        </p:nvSpPr>
        <p:spPr>
          <a:xfrm>
            <a:off x="548640" y="1522476"/>
            <a:ext cx="3840480" cy="0"/>
          </a:xfrm>
          <a:prstGeom prst="line">
            <a:avLst/>
          </a:prstGeom>
          <a:noFill/>
          <a:ln w="25400">
            <a:solidFill>
              <a:srgbClr val="0F5257"/>
            </a:solidFill>
            <a:prstDash val="solid"/>
          </a:ln>
        </p:spPr>
      </p:sp>
      <p:sp>
        <p:nvSpPr>
          <p:cNvPr id="8" name="Line 2 number"/>
          <p:cNvSpPr txBox="1"/>
          <p:nvPr/>
        </p:nvSpPr>
        <p:spPr>
          <a:xfrm>
            <a:off x="603504" y="1380744"/>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2</a:t>
            </a:r>
            <a:endParaRPr lang="en-US" sz="1000" dirty="0"/>
          </a:p>
        </p:txBody>
      </p:sp>
      <p:sp>
        <p:nvSpPr>
          <p:cNvPr id="9" name="Line 3"/>
          <p:cNvSpPr/>
          <p:nvPr/>
        </p:nvSpPr>
        <p:spPr>
          <a:xfrm>
            <a:off x="548640" y="1805940"/>
            <a:ext cx="3840480" cy="0"/>
          </a:xfrm>
          <a:prstGeom prst="line">
            <a:avLst/>
          </a:prstGeom>
          <a:noFill/>
          <a:ln w="25400">
            <a:solidFill>
              <a:srgbClr val="0F5257"/>
            </a:solidFill>
            <a:prstDash val="solid"/>
          </a:ln>
        </p:spPr>
      </p:sp>
      <p:sp>
        <p:nvSpPr>
          <p:cNvPr id="10" name="Line 3 number"/>
          <p:cNvSpPr txBox="1"/>
          <p:nvPr/>
        </p:nvSpPr>
        <p:spPr>
          <a:xfrm>
            <a:off x="603504" y="1664208"/>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3</a:t>
            </a:r>
            <a:endParaRPr lang="en-US" sz="1000" dirty="0"/>
          </a:p>
        </p:txBody>
      </p:sp>
      <p:sp>
        <p:nvSpPr>
          <p:cNvPr id="11" name="Line 4"/>
          <p:cNvSpPr/>
          <p:nvPr/>
        </p:nvSpPr>
        <p:spPr>
          <a:xfrm>
            <a:off x="548640" y="2089404"/>
            <a:ext cx="3840480" cy="0"/>
          </a:xfrm>
          <a:prstGeom prst="line">
            <a:avLst/>
          </a:prstGeom>
          <a:noFill/>
          <a:ln w="25400">
            <a:solidFill>
              <a:srgbClr val="0F5257"/>
            </a:solidFill>
            <a:prstDash val="solid"/>
          </a:ln>
        </p:spPr>
      </p:sp>
      <p:sp>
        <p:nvSpPr>
          <p:cNvPr id="12" name="Line 4 number"/>
          <p:cNvSpPr txBox="1"/>
          <p:nvPr/>
        </p:nvSpPr>
        <p:spPr>
          <a:xfrm>
            <a:off x="603504" y="1947672"/>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4</a:t>
            </a:r>
            <a:endParaRPr lang="en-US" sz="1000" dirty="0"/>
          </a:p>
        </p:txBody>
      </p:sp>
      <p:sp>
        <p:nvSpPr>
          <p:cNvPr id="13" name="Line 5"/>
          <p:cNvSpPr/>
          <p:nvPr/>
        </p:nvSpPr>
        <p:spPr>
          <a:xfrm>
            <a:off x="548640" y="2372868"/>
            <a:ext cx="3840480" cy="0"/>
          </a:xfrm>
          <a:prstGeom prst="line">
            <a:avLst/>
          </a:prstGeom>
          <a:noFill/>
          <a:ln w="25400">
            <a:solidFill>
              <a:srgbClr val="0F5257"/>
            </a:solidFill>
            <a:prstDash val="solid"/>
          </a:ln>
        </p:spPr>
      </p:sp>
      <p:sp>
        <p:nvSpPr>
          <p:cNvPr id="14" name="Line 5 number"/>
          <p:cNvSpPr txBox="1"/>
          <p:nvPr/>
        </p:nvSpPr>
        <p:spPr>
          <a:xfrm>
            <a:off x="603504" y="2231136"/>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5</a:t>
            </a:r>
            <a:endParaRPr lang="en-US" sz="1000" dirty="0"/>
          </a:p>
        </p:txBody>
      </p:sp>
      <p:sp>
        <p:nvSpPr>
          <p:cNvPr id="15" name="Line 6"/>
          <p:cNvSpPr/>
          <p:nvPr/>
        </p:nvSpPr>
        <p:spPr>
          <a:xfrm>
            <a:off x="548640" y="2656332"/>
            <a:ext cx="2743200" cy="0"/>
          </a:xfrm>
          <a:prstGeom prst="line">
            <a:avLst/>
          </a:prstGeom>
          <a:noFill/>
          <a:ln w="25400">
            <a:solidFill>
              <a:srgbClr val="15949B"/>
            </a:solidFill>
            <a:prstDash val="solid"/>
          </a:ln>
        </p:spPr>
      </p:sp>
      <p:sp>
        <p:nvSpPr>
          <p:cNvPr id="16" name="Line 6 number"/>
          <p:cNvSpPr txBox="1"/>
          <p:nvPr/>
        </p:nvSpPr>
        <p:spPr>
          <a:xfrm>
            <a:off x="603504" y="2514600"/>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6</a:t>
            </a:r>
            <a:endParaRPr lang="en-US" sz="1000" dirty="0"/>
          </a:p>
        </p:txBody>
      </p:sp>
      <p:sp>
        <p:nvSpPr>
          <p:cNvPr id="17" name="Line 7"/>
          <p:cNvSpPr/>
          <p:nvPr/>
        </p:nvSpPr>
        <p:spPr>
          <a:xfrm>
            <a:off x="548640" y="2939796"/>
            <a:ext cx="2743200" cy="0"/>
          </a:xfrm>
          <a:prstGeom prst="line">
            <a:avLst/>
          </a:prstGeom>
          <a:noFill/>
          <a:ln w="25400">
            <a:solidFill>
              <a:srgbClr val="15949B"/>
            </a:solidFill>
            <a:prstDash val="solid"/>
          </a:ln>
        </p:spPr>
      </p:sp>
      <p:sp>
        <p:nvSpPr>
          <p:cNvPr id="18" name="Line 7 number"/>
          <p:cNvSpPr txBox="1"/>
          <p:nvPr/>
        </p:nvSpPr>
        <p:spPr>
          <a:xfrm>
            <a:off x="603504" y="2798064"/>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7</a:t>
            </a:r>
            <a:endParaRPr lang="en-US" sz="1000" dirty="0"/>
          </a:p>
        </p:txBody>
      </p:sp>
      <p:sp>
        <p:nvSpPr>
          <p:cNvPr id="19" name="Line 8"/>
          <p:cNvSpPr/>
          <p:nvPr/>
        </p:nvSpPr>
        <p:spPr>
          <a:xfrm>
            <a:off x="548640" y="3223260"/>
            <a:ext cx="2743200" cy="0"/>
          </a:xfrm>
          <a:prstGeom prst="line">
            <a:avLst/>
          </a:prstGeom>
          <a:noFill/>
          <a:ln w="25400">
            <a:solidFill>
              <a:srgbClr val="15949B"/>
            </a:solidFill>
            <a:prstDash val="solid"/>
          </a:ln>
        </p:spPr>
      </p:sp>
      <p:sp>
        <p:nvSpPr>
          <p:cNvPr id="20" name="Line 8 number"/>
          <p:cNvSpPr txBox="1"/>
          <p:nvPr/>
        </p:nvSpPr>
        <p:spPr>
          <a:xfrm>
            <a:off x="603504" y="3081528"/>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8</a:t>
            </a:r>
            <a:endParaRPr lang="en-US" sz="1000" dirty="0"/>
          </a:p>
        </p:txBody>
      </p:sp>
      <p:sp>
        <p:nvSpPr>
          <p:cNvPr id="21" name="Line 9"/>
          <p:cNvSpPr/>
          <p:nvPr/>
        </p:nvSpPr>
        <p:spPr>
          <a:xfrm>
            <a:off x="548640" y="3506724"/>
            <a:ext cx="2743200" cy="0"/>
          </a:xfrm>
          <a:prstGeom prst="line">
            <a:avLst/>
          </a:prstGeom>
          <a:noFill/>
          <a:ln w="25400">
            <a:solidFill>
              <a:srgbClr val="15949B"/>
            </a:solidFill>
            <a:prstDash val="solid"/>
          </a:ln>
        </p:spPr>
      </p:sp>
      <p:sp>
        <p:nvSpPr>
          <p:cNvPr id="22" name="Line 9 number"/>
          <p:cNvSpPr txBox="1"/>
          <p:nvPr/>
        </p:nvSpPr>
        <p:spPr>
          <a:xfrm>
            <a:off x="603504" y="3364992"/>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9</a:t>
            </a:r>
            <a:endParaRPr lang="en-US" sz="1000" dirty="0"/>
          </a:p>
        </p:txBody>
      </p:sp>
      <p:sp>
        <p:nvSpPr>
          <p:cNvPr id="23" name="Line 10"/>
          <p:cNvSpPr/>
          <p:nvPr/>
        </p:nvSpPr>
        <p:spPr>
          <a:xfrm>
            <a:off x="548640" y="3790188"/>
            <a:ext cx="2743200" cy="0"/>
          </a:xfrm>
          <a:prstGeom prst="line">
            <a:avLst/>
          </a:prstGeom>
          <a:noFill/>
          <a:ln w="25400">
            <a:solidFill>
              <a:srgbClr val="15949B"/>
            </a:solidFill>
            <a:prstDash val="solid"/>
          </a:ln>
        </p:spPr>
      </p:sp>
      <p:sp>
        <p:nvSpPr>
          <p:cNvPr id="24" name="Line 10 number"/>
          <p:cNvSpPr txBox="1"/>
          <p:nvPr/>
        </p:nvSpPr>
        <p:spPr>
          <a:xfrm>
            <a:off x="603504" y="3648456"/>
            <a:ext cx="274320" cy="283464"/>
          </a:xfrm>
          <a:prstGeom prst="rect">
            <a:avLst/>
          </a:prstGeom>
          <a:noFill/>
          <a:ln/>
        </p:spPr>
        <p:txBody>
          <a:bodyPr wrap="square" lIns="0" tIns="0" rIns="0" bIns="0" rtlCol="0" anchor="ctr"/>
          <a:lstStyle/>
          <a:p>
            <a:pPr indent="0" marL="0">
              <a:buNone/>
            </a:pPr>
            <a:r>
              <a:rPr lang="en-US" sz="1000" b="1" dirty="0">
                <a:solidFill>
                  <a:srgbClr val="0F5257"/>
                </a:solidFill>
              </a:rPr>
              <a:t>10</a:t>
            </a:r>
            <a:endParaRPr lang="en-US" sz="1000" dirty="0"/>
          </a:p>
        </p:txBody>
      </p:sp>
      <p:sp>
        <p:nvSpPr>
          <p:cNvPr id="25" name="Height arrow"/>
          <p:cNvSpPr/>
          <p:nvPr/>
        </p:nvSpPr>
        <p:spPr>
          <a:xfrm>
            <a:off x="4617720" y="1097280"/>
            <a:ext cx="0" cy="2834640"/>
          </a:xfrm>
          <a:prstGeom prst="line">
            <a:avLst/>
          </a:prstGeom>
          <a:noFill/>
          <a:ln w="25400">
            <a:solidFill>
              <a:srgbClr val="F59E0B"/>
            </a:solidFill>
            <a:prstDash val="solid"/>
            <a:headEnd type="triangle"/>
            <a:tailEnd type="triangle"/>
          </a:ln>
        </p:spPr>
      </p:sp>
      <p:sp>
        <p:nvSpPr>
          <p:cNvPr id="26" name="Diagram caption"/>
          <p:cNvSpPr txBox="1"/>
          <p:nvPr/>
        </p:nvSpPr>
        <p:spPr>
          <a:xfrm>
            <a:off x="548640" y="3986784"/>
            <a:ext cx="4023360" cy="365760"/>
          </a:xfrm>
          <a:prstGeom prst="rect">
            <a:avLst/>
          </a:prstGeom>
          <a:noFill/>
          <a:ln/>
        </p:spPr>
        <p:txBody>
          <a:bodyPr wrap="square" lIns="0" tIns="0" rIns="0" bIns="0" rtlCol="0" anchor="t"/>
          <a:lstStyle/>
          <a:p>
            <a:pPr indent="0" marL="0">
              <a:buNone/>
            </a:pPr>
            <a:r>
              <a:rPr lang="en-US" sz="1000" i="1" dirty="0">
                <a:solidFill>
                  <a:srgbClr val="475569"/>
                </a:solidFill>
              </a:rPr>
              <a:t>A face with a chipped corner: lines 6 to 10 come out shorter. The arrow is the face height, split into 10 equal gaps.</a:t>
            </a:r>
            <a:endParaRPr lang="en-US" sz="1000" dirty="0"/>
          </a:p>
        </p:txBody>
      </p:sp>
      <p:sp>
        <p:nvSpPr>
          <p:cNvPr id="27" name="Number 1"/>
          <p:cNvSpPr/>
          <p:nvPr/>
        </p:nvSpPr>
        <p:spPr>
          <a:xfrm>
            <a:off x="4983480" y="1115568"/>
            <a:ext cx="274320" cy="274320"/>
          </a:xfrm>
          <a:prstGeom prst="ellipse">
            <a:avLst/>
          </a:prstGeom>
          <a:solidFill>
            <a:srgbClr val="0F5257"/>
          </a:solidFill>
          <a:ln w="6350">
            <a:solidFill>
              <a:srgbClr val="0F5257"/>
            </a:solidFill>
            <a:prstDash val="solid"/>
          </a:ln>
        </p:spPr>
      </p:sp>
      <p:sp>
        <p:nvSpPr>
          <p:cNvPr id="28" name="Number 1 text"/>
          <p:cNvSpPr txBox="1"/>
          <p:nvPr/>
        </p:nvSpPr>
        <p:spPr>
          <a:xfrm>
            <a:off x="4983480" y="11155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9" name="Step 1 title"/>
          <p:cNvSpPr txBox="1"/>
          <p:nvPr/>
        </p:nvSpPr>
        <p:spPr>
          <a:xfrm>
            <a:off x="5394960" y="1097280"/>
            <a:ext cx="3291840" cy="219456"/>
          </a:xfrm>
          <a:prstGeom prst="rect">
            <a:avLst/>
          </a:prstGeom>
          <a:noFill/>
          <a:ln/>
        </p:spPr>
        <p:txBody>
          <a:bodyPr wrap="square" lIns="0" tIns="0" rIns="0" bIns="0" rtlCol="0" anchor="ctr"/>
          <a:lstStyle/>
          <a:p>
            <a:pPr indent="0" marL="0">
              <a:buNone/>
            </a:pPr>
            <a:r>
              <a:rPr lang="en-US" sz="1200" b="1" dirty="0">
                <a:solidFill>
                  <a:srgbClr val="1E293B"/>
                </a:solidFill>
              </a:rPr>
              <a:t>Flatten the face</a:t>
            </a:r>
            <a:endParaRPr lang="en-US" sz="1200" dirty="0"/>
          </a:p>
        </p:txBody>
      </p:sp>
      <p:sp>
        <p:nvSpPr>
          <p:cNvPr id="30" name="Step 1 text"/>
          <p:cNvSpPr txBox="1"/>
          <p:nvPr/>
        </p:nvSpPr>
        <p:spPr>
          <a:xfrm>
            <a:off x="5394960" y="1316736"/>
            <a:ext cx="3291840" cy="329184"/>
          </a:xfrm>
          <a:prstGeom prst="rect">
            <a:avLst/>
          </a:prstGeom>
          <a:noFill/>
          <a:ln/>
        </p:spPr>
        <p:txBody>
          <a:bodyPr wrap="square" lIns="0" tIns="0" rIns="0" bIns="0" rtlCol="0" anchor="t"/>
          <a:lstStyle/>
          <a:p>
            <a:pPr indent="0" marL="0">
              <a:buNone/>
            </a:pPr>
            <a:r>
              <a:rPr lang="en-US" sz="1000" dirty="0">
                <a:solidFill>
                  <a:srgbClr val="475569"/>
                </a:solidFill>
              </a:rPr>
              <a:t>The four corners map to a true rectangle in cm, so the angle of the photo does not stretch the lines.</a:t>
            </a:r>
            <a:endParaRPr lang="en-US" sz="1000" dirty="0"/>
          </a:p>
        </p:txBody>
      </p:sp>
      <p:sp>
        <p:nvSpPr>
          <p:cNvPr id="31" name="Number 2"/>
          <p:cNvSpPr/>
          <p:nvPr/>
        </p:nvSpPr>
        <p:spPr>
          <a:xfrm>
            <a:off x="4983480" y="1682496"/>
            <a:ext cx="274320" cy="274320"/>
          </a:xfrm>
          <a:prstGeom prst="ellipse">
            <a:avLst/>
          </a:prstGeom>
          <a:solidFill>
            <a:srgbClr val="0F5257"/>
          </a:solidFill>
          <a:ln w="6350">
            <a:solidFill>
              <a:srgbClr val="0F5257"/>
            </a:solidFill>
            <a:prstDash val="solid"/>
          </a:ln>
        </p:spPr>
      </p:sp>
      <p:sp>
        <p:nvSpPr>
          <p:cNvPr id="32" name="Number 2 text"/>
          <p:cNvSpPr txBox="1"/>
          <p:nvPr/>
        </p:nvSpPr>
        <p:spPr>
          <a:xfrm>
            <a:off x="4983480" y="168249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3" name="Step 2 title"/>
          <p:cNvSpPr txBox="1"/>
          <p:nvPr/>
        </p:nvSpPr>
        <p:spPr>
          <a:xfrm>
            <a:off x="5394960" y="1664208"/>
            <a:ext cx="3291840" cy="219456"/>
          </a:xfrm>
          <a:prstGeom prst="rect">
            <a:avLst/>
          </a:prstGeom>
          <a:noFill/>
          <a:ln/>
        </p:spPr>
        <p:txBody>
          <a:bodyPr wrap="square" lIns="0" tIns="0" rIns="0" bIns="0" rtlCol="0" anchor="ctr"/>
          <a:lstStyle/>
          <a:p>
            <a:pPr indent="0" marL="0">
              <a:buNone/>
            </a:pPr>
            <a:r>
              <a:rPr lang="en-US" sz="1200" b="1" dirty="0">
                <a:solidFill>
                  <a:srgbClr val="1E293B"/>
                </a:solidFill>
              </a:rPr>
              <a:t>Find the height</a:t>
            </a:r>
            <a:endParaRPr lang="en-US" sz="1200" dirty="0"/>
          </a:p>
        </p:txBody>
      </p:sp>
      <p:sp>
        <p:nvSpPr>
          <p:cNvPr id="34" name="Step 2 text"/>
          <p:cNvSpPr txBox="1"/>
          <p:nvPr/>
        </p:nvSpPr>
        <p:spPr>
          <a:xfrm>
            <a:off x="5394960" y="1883664"/>
            <a:ext cx="3291840" cy="329184"/>
          </a:xfrm>
          <a:prstGeom prst="rect">
            <a:avLst/>
          </a:prstGeom>
          <a:noFill/>
          <a:ln/>
        </p:spPr>
        <p:txBody>
          <a:bodyPr wrap="square" lIns="0" tIns="0" rIns="0" bIns="0" rtlCol="0" anchor="t"/>
          <a:lstStyle/>
          <a:p>
            <a:pPr indent="0" marL="0">
              <a:buNone/>
            </a:pPr>
            <a:r>
              <a:rPr lang="en-US" sz="1000" dirty="0">
                <a:solidFill>
                  <a:srgbClr val="475569"/>
                </a:solidFill>
              </a:rPr>
              <a:t>Top of the traced edge to its bottom, on the flat face.</a:t>
            </a:r>
            <a:endParaRPr lang="en-US" sz="1000" dirty="0"/>
          </a:p>
        </p:txBody>
      </p:sp>
      <p:sp>
        <p:nvSpPr>
          <p:cNvPr id="35" name="Number 3"/>
          <p:cNvSpPr/>
          <p:nvPr/>
        </p:nvSpPr>
        <p:spPr>
          <a:xfrm>
            <a:off x="4983480" y="2249424"/>
            <a:ext cx="274320" cy="274320"/>
          </a:xfrm>
          <a:prstGeom prst="ellipse">
            <a:avLst/>
          </a:prstGeom>
          <a:solidFill>
            <a:srgbClr val="0F5257"/>
          </a:solidFill>
          <a:ln w="6350">
            <a:solidFill>
              <a:srgbClr val="0F5257"/>
            </a:solidFill>
            <a:prstDash val="solid"/>
          </a:ln>
        </p:spPr>
      </p:sp>
      <p:sp>
        <p:nvSpPr>
          <p:cNvPr id="36" name="Number 3 text"/>
          <p:cNvSpPr txBox="1"/>
          <p:nvPr/>
        </p:nvSpPr>
        <p:spPr>
          <a:xfrm>
            <a:off x="4983480" y="224942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7" name="Step 3 title"/>
          <p:cNvSpPr txBox="1"/>
          <p:nvPr/>
        </p:nvSpPr>
        <p:spPr>
          <a:xfrm>
            <a:off x="5394960" y="2231136"/>
            <a:ext cx="3291840" cy="219456"/>
          </a:xfrm>
          <a:prstGeom prst="rect">
            <a:avLst/>
          </a:prstGeom>
          <a:noFill/>
          <a:ln/>
        </p:spPr>
        <p:txBody>
          <a:bodyPr wrap="square" lIns="0" tIns="0" rIns="0" bIns="0" rtlCol="0" anchor="ctr"/>
          <a:lstStyle/>
          <a:p>
            <a:pPr indent="0" marL="0">
              <a:buNone/>
            </a:pPr>
            <a:r>
              <a:rPr lang="en-US" sz="1200" b="1" dirty="0">
                <a:solidFill>
                  <a:srgbClr val="1E293B"/>
                </a:solidFill>
              </a:rPr>
              <a:t>Split into 10 gaps</a:t>
            </a:r>
            <a:endParaRPr lang="en-US" sz="1200" dirty="0"/>
          </a:p>
        </p:txBody>
      </p:sp>
      <p:sp>
        <p:nvSpPr>
          <p:cNvPr id="38" name="Step 3 text"/>
          <p:cNvSpPr txBox="1"/>
          <p:nvPr/>
        </p:nvSpPr>
        <p:spPr>
          <a:xfrm>
            <a:off x="5394960" y="2450592"/>
            <a:ext cx="3291840" cy="329184"/>
          </a:xfrm>
          <a:prstGeom prst="rect">
            <a:avLst/>
          </a:prstGeom>
          <a:noFill/>
          <a:ln/>
        </p:spPr>
        <p:txBody>
          <a:bodyPr wrap="square" lIns="0" tIns="0" rIns="0" bIns="0" rtlCol="0" anchor="t"/>
          <a:lstStyle/>
          <a:p>
            <a:pPr indent="0" marL="0">
              <a:buNone/>
            </a:pPr>
            <a:r>
              <a:rPr lang="en-US" sz="1000" dirty="0">
                <a:solidFill>
                  <a:srgbClr val="475569"/>
                </a:solidFill>
              </a:rPr>
              <a:t>gap = height ÷ 10</a:t>
            </a:r>
            <a:endParaRPr lang="en-US" sz="1000" dirty="0"/>
          </a:p>
        </p:txBody>
      </p:sp>
      <p:sp>
        <p:nvSpPr>
          <p:cNvPr id="39" name="Number 4"/>
          <p:cNvSpPr/>
          <p:nvPr/>
        </p:nvSpPr>
        <p:spPr>
          <a:xfrm>
            <a:off x="4983480" y="2816352"/>
            <a:ext cx="274320" cy="274320"/>
          </a:xfrm>
          <a:prstGeom prst="ellipse">
            <a:avLst/>
          </a:prstGeom>
          <a:solidFill>
            <a:srgbClr val="0F5257"/>
          </a:solidFill>
          <a:ln w="6350">
            <a:solidFill>
              <a:srgbClr val="0F5257"/>
            </a:solidFill>
            <a:prstDash val="solid"/>
          </a:ln>
        </p:spPr>
      </p:sp>
      <p:sp>
        <p:nvSpPr>
          <p:cNvPr id="40" name="Number 4 text"/>
          <p:cNvSpPr txBox="1"/>
          <p:nvPr/>
        </p:nvSpPr>
        <p:spPr>
          <a:xfrm>
            <a:off x="4983480" y="281635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41" name="Step 4 title"/>
          <p:cNvSpPr txBox="1"/>
          <p:nvPr/>
        </p:nvSpPr>
        <p:spPr>
          <a:xfrm>
            <a:off x="5394960" y="2798064"/>
            <a:ext cx="3291840" cy="219456"/>
          </a:xfrm>
          <a:prstGeom prst="rect">
            <a:avLst/>
          </a:prstGeom>
          <a:noFill/>
          <a:ln/>
        </p:spPr>
        <p:txBody>
          <a:bodyPr wrap="square" lIns="0" tIns="0" rIns="0" bIns="0" rtlCol="0" anchor="ctr"/>
          <a:lstStyle/>
          <a:p>
            <a:pPr indent="0" marL="0">
              <a:buNone/>
            </a:pPr>
            <a:r>
              <a:rPr lang="en-US" sz="1200" b="1" dirty="0">
                <a:solidFill>
                  <a:srgbClr val="1E293B"/>
                </a:solidFill>
              </a:rPr>
              <a:t>Place the lines</a:t>
            </a:r>
            <a:endParaRPr lang="en-US" sz="1200" dirty="0"/>
          </a:p>
        </p:txBody>
      </p:sp>
      <p:sp>
        <p:nvSpPr>
          <p:cNvPr id="42" name="Step 4 text"/>
          <p:cNvSpPr txBox="1"/>
          <p:nvPr/>
        </p:nvSpPr>
        <p:spPr>
          <a:xfrm>
            <a:off x="5394960" y="3017520"/>
            <a:ext cx="3291840" cy="329184"/>
          </a:xfrm>
          <a:prstGeom prst="rect">
            <a:avLst/>
          </a:prstGeom>
          <a:noFill/>
          <a:ln/>
        </p:spPr>
        <p:txBody>
          <a:bodyPr wrap="square" lIns="0" tIns="0" rIns="0" bIns="0" rtlCol="0" anchor="t"/>
          <a:lstStyle/>
          <a:p>
            <a:pPr indent="0" marL="0">
              <a:buNone/>
            </a:pPr>
            <a:r>
              <a:rPr lang="en-US" sz="1000" dirty="0">
                <a:solidFill>
                  <a:srgbClr val="475569"/>
                </a:solidFill>
              </a:rPr>
              <a:t>line i is at top + (i + 0.5) × gap. Its length is where it meets the left and right edge.</a:t>
            </a:r>
            <a:endParaRPr lang="en-US" sz="1000" dirty="0"/>
          </a:p>
        </p:txBody>
      </p:sp>
      <p:sp>
        <p:nvSpPr>
          <p:cNvPr id="43" name="Number 5"/>
          <p:cNvSpPr/>
          <p:nvPr/>
        </p:nvSpPr>
        <p:spPr>
          <a:xfrm>
            <a:off x="4983480" y="3383280"/>
            <a:ext cx="274320" cy="274320"/>
          </a:xfrm>
          <a:prstGeom prst="ellipse">
            <a:avLst/>
          </a:prstGeom>
          <a:solidFill>
            <a:srgbClr val="0F5257"/>
          </a:solidFill>
          <a:ln w="6350">
            <a:solidFill>
              <a:srgbClr val="0F5257"/>
            </a:solidFill>
            <a:prstDash val="solid"/>
          </a:ln>
        </p:spPr>
      </p:sp>
      <p:sp>
        <p:nvSpPr>
          <p:cNvPr id="44" name="Number 5 text"/>
          <p:cNvSpPr txBox="1"/>
          <p:nvPr/>
        </p:nvSpPr>
        <p:spPr>
          <a:xfrm>
            <a:off x="4983480" y="338328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45" name="Step 5 title"/>
          <p:cNvSpPr txBox="1"/>
          <p:nvPr/>
        </p:nvSpPr>
        <p:spPr>
          <a:xfrm>
            <a:off x="5394960" y="3364992"/>
            <a:ext cx="3291840" cy="219456"/>
          </a:xfrm>
          <a:prstGeom prst="rect">
            <a:avLst/>
          </a:prstGeom>
          <a:noFill/>
          <a:ln/>
        </p:spPr>
        <p:txBody>
          <a:bodyPr wrap="square" lIns="0" tIns="0" rIns="0" bIns="0" rtlCol="0" anchor="ctr"/>
          <a:lstStyle/>
          <a:p>
            <a:pPr indent="0" marL="0">
              <a:buNone/>
            </a:pPr>
            <a:r>
              <a:rPr lang="en-US" sz="1200" b="1" dirty="0">
                <a:solidFill>
                  <a:srgbClr val="1E293B"/>
                </a:solidFill>
              </a:rPr>
              <a:t>Average</a:t>
            </a:r>
            <a:endParaRPr lang="en-US" sz="1200" dirty="0"/>
          </a:p>
        </p:txBody>
      </p:sp>
      <p:sp>
        <p:nvSpPr>
          <p:cNvPr id="46" name="Step 5 text"/>
          <p:cNvSpPr txBox="1"/>
          <p:nvPr/>
        </p:nvSpPr>
        <p:spPr>
          <a:xfrm>
            <a:off x="5394960" y="3584448"/>
            <a:ext cx="3291840" cy="329184"/>
          </a:xfrm>
          <a:prstGeom prst="rect">
            <a:avLst/>
          </a:prstGeom>
          <a:noFill/>
          <a:ln/>
        </p:spPr>
        <p:txBody>
          <a:bodyPr wrap="square" lIns="0" tIns="0" rIns="0" bIns="0" rtlCol="0" anchor="t"/>
          <a:lstStyle/>
          <a:p>
            <a:pPr indent="0" marL="0">
              <a:buNone/>
            </a:pPr>
            <a:r>
              <a:rPr lang="en-US" sz="1000" dirty="0">
                <a:solidFill>
                  <a:srgbClr val="475569"/>
                </a:solidFill>
              </a:rPr>
              <a:t>The 10 lengths give the face length. Faces are averaged for the block: length from front and back, width from left and right.</a:t>
            </a:r>
            <a:endParaRPr lang="en-US" sz="1000" dirty="0"/>
          </a:p>
        </p:txBody>
      </p:sp>
      <p:sp>
        <p:nvSpPr>
          <p:cNvPr id="47" name="Example bar"/>
          <p:cNvSpPr/>
          <p:nvPr/>
        </p:nvSpPr>
        <p:spPr>
          <a:xfrm>
            <a:off x="457200" y="4434840"/>
            <a:ext cx="8229600" cy="457200"/>
          </a:xfrm>
          <a:prstGeom prst="roundRect">
            <a:avLst>
              <a:gd name="adj" fmla="val 20000"/>
            </a:avLst>
          </a:prstGeom>
          <a:solidFill>
            <a:srgbClr val="0F5257"/>
          </a:solidFill>
          <a:ln w="6350">
            <a:solidFill>
              <a:srgbClr val="0F5257"/>
            </a:solidFill>
            <a:prstDash val="solid"/>
          </a:ln>
        </p:spPr>
      </p:sp>
      <p:sp>
        <p:nvSpPr>
          <p:cNvPr id="48" name="Example text"/>
          <p:cNvSpPr txBox="1"/>
          <p:nvPr/>
        </p:nvSpPr>
        <p:spPr>
          <a:xfrm>
            <a:off x="594360" y="4434840"/>
            <a:ext cx="7955280" cy="457200"/>
          </a:xfrm>
          <a:prstGeom prst="rect">
            <a:avLst/>
          </a:prstGeom>
          <a:noFill/>
          <a:ln/>
        </p:spPr>
        <p:txBody>
          <a:bodyPr wrap="square" lIns="0" tIns="0" rIns="0" bIns="0" rtlCol="0" anchor="ctr"/>
          <a:lstStyle/>
          <a:p>
            <a:pPr algn="ctr" indent="0" marL="0">
              <a:buNone/>
            </a:pPr>
            <a:r>
              <a:rPr lang="en-US" sz="1200" b="1" dirty="0">
                <a:solidFill>
                  <a:srgbClr val="FFFFFF"/>
                </a:solidFill>
              </a:rPr>
              <a:t>Example: height 100 cm, gap 10 cm. Lengths 240, 240, 240, 240, 240, 230, 209, 200, 200, 200 cm, average 223.9 cm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5257"/>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Tool OpenCV"/>
          <p:cNvSpPr/>
          <p:nvPr/>
        </p:nvSpPr>
        <p:spPr>
          <a:xfrm>
            <a:off x="457200" y="1051560"/>
            <a:ext cx="2651760" cy="841248"/>
          </a:xfrm>
          <a:prstGeom prst="roundRect">
            <a:avLst>
              <a:gd name="adj" fmla="val 10870"/>
            </a:avLst>
          </a:prstGeom>
          <a:solidFill>
            <a:srgbClr val="FFFFFF">
              <a:alpha val="12000"/>
            </a:srgbClr>
          </a:solidFill>
          <a:ln w="9525">
            <a:solidFill>
              <a:srgbClr val="FFFFFF">
                <a:alpha val="45000"/>
              </a:srgbClr>
            </a:solidFill>
            <a:prstDash val="solid"/>
          </a:ln>
        </p:spPr>
      </p:sp>
      <p:sp>
        <p:nvSpPr>
          <p:cNvPr id="4" name="OpenCV name"/>
          <p:cNvSpPr txBox="1"/>
          <p:nvPr/>
        </p:nvSpPr>
        <p:spPr>
          <a:xfrm>
            <a:off x="594360" y="1124712"/>
            <a:ext cx="1600200" cy="274320"/>
          </a:xfrm>
          <a:prstGeom prst="rect">
            <a:avLst/>
          </a:prstGeom>
          <a:noFill/>
          <a:ln/>
        </p:spPr>
        <p:txBody>
          <a:bodyPr wrap="square" lIns="0" tIns="0" rIns="0" bIns="0" rtlCol="0" anchor="ctr"/>
          <a:lstStyle/>
          <a:p>
            <a:pPr indent="0" marL="0">
              <a:buNone/>
            </a:pPr>
            <a:r>
              <a:rPr lang="en-US" sz="1400" b="1" dirty="0">
                <a:solidFill>
                  <a:srgbClr val="FFFFFF"/>
                </a:solidFill>
              </a:rPr>
              <a:t>OpenCV</a:t>
            </a:r>
            <a:endParaRPr lang="en-US" sz="1400" dirty="0"/>
          </a:p>
        </p:txBody>
      </p:sp>
      <p:sp>
        <p:nvSpPr>
          <p:cNvPr id="5" name="OpenCV licence"/>
          <p:cNvSpPr txBox="1"/>
          <p:nvPr/>
        </p:nvSpPr>
        <p:spPr>
          <a:xfrm>
            <a:off x="2148840" y="1124712"/>
            <a:ext cx="868680" cy="274320"/>
          </a:xfrm>
          <a:prstGeom prst="rect">
            <a:avLst/>
          </a:prstGeom>
          <a:noFill/>
          <a:ln/>
        </p:spPr>
        <p:txBody>
          <a:bodyPr wrap="square" lIns="0" tIns="0" rIns="0" bIns="0" rtlCol="0" anchor="ctr"/>
          <a:lstStyle/>
          <a:p>
            <a:pPr algn="r" indent="0" marL="0">
              <a:buNone/>
            </a:pPr>
            <a:r>
              <a:rPr lang="en-US" sz="1000" dirty="0">
                <a:solidFill>
                  <a:srgbClr val="CFE8E8"/>
                </a:solidFill>
              </a:rPr>
              <a:t>Apache-2.0</a:t>
            </a:r>
            <a:endParaRPr lang="en-US" sz="1000" dirty="0"/>
          </a:p>
        </p:txBody>
      </p:sp>
      <p:sp>
        <p:nvSpPr>
          <p:cNvPr id="6" name="OpenCV text"/>
          <p:cNvSpPr txBox="1"/>
          <p:nvPr/>
        </p:nvSpPr>
        <p:spPr>
          <a:xfrm>
            <a:off x="594360" y="1435608"/>
            <a:ext cx="2377440" cy="384048"/>
          </a:xfrm>
          <a:prstGeom prst="rect">
            <a:avLst/>
          </a:prstGeom>
          <a:noFill/>
          <a:ln/>
        </p:spPr>
        <p:txBody>
          <a:bodyPr wrap="square" lIns="0" tIns="0" rIns="0" bIns="0" rtlCol="0" anchor="t"/>
          <a:lstStyle/>
          <a:p>
            <a:pPr indent="0" marL="0">
              <a:buNone/>
            </a:pPr>
            <a:r>
              <a:rPr lang="en-US" sz="1100" dirty="0">
                <a:solidFill>
                  <a:srgbClr val="FFFFFF"/>
                </a:solidFill>
              </a:rPr>
              <a:t>Corners, contours, flattening, ArUco</a:t>
            </a:r>
            <a:endParaRPr lang="en-US" sz="1100" dirty="0"/>
          </a:p>
        </p:txBody>
      </p:sp>
      <p:sp>
        <p:nvSpPr>
          <p:cNvPr id="7" name="Tool ArUco marker"/>
          <p:cNvSpPr/>
          <p:nvPr/>
        </p:nvSpPr>
        <p:spPr>
          <a:xfrm>
            <a:off x="3246120" y="1051560"/>
            <a:ext cx="2651760" cy="841248"/>
          </a:xfrm>
          <a:prstGeom prst="roundRect">
            <a:avLst>
              <a:gd name="adj" fmla="val 10870"/>
            </a:avLst>
          </a:prstGeom>
          <a:solidFill>
            <a:srgbClr val="FFFFFF">
              <a:alpha val="12000"/>
            </a:srgbClr>
          </a:solidFill>
          <a:ln w="9525">
            <a:solidFill>
              <a:srgbClr val="FFFFFF">
                <a:alpha val="45000"/>
              </a:srgbClr>
            </a:solidFill>
            <a:prstDash val="solid"/>
          </a:ln>
        </p:spPr>
      </p:sp>
      <p:sp>
        <p:nvSpPr>
          <p:cNvPr id="8" name="ArUco marker name"/>
          <p:cNvSpPr txBox="1"/>
          <p:nvPr/>
        </p:nvSpPr>
        <p:spPr>
          <a:xfrm>
            <a:off x="3383280" y="1124712"/>
            <a:ext cx="1600200" cy="274320"/>
          </a:xfrm>
          <a:prstGeom prst="rect">
            <a:avLst/>
          </a:prstGeom>
          <a:noFill/>
          <a:ln/>
        </p:spPr>
        <p:txBody>
          <a:bodyPr wrap="square" lIns="0" tIns="0" rIns="0" bIns="0" rtlCol="0" anchor="ctr"/>
          <a:lstStyle/>
          <a:p>
            <a:pPr indent="0" marL="0">
              <a:buNone/>
            </a:pPr>
            <a:r>
              <a:rPr lang="en-US" sz="1400" b="1" dirty="0">
                <a:solidFill>
                  <a:srgbClr val="FFFFFF"/>
                </a:solidFill>
              </a:rPr>
              <a:t>ArUco marker</a:t>
            </a:r>
            <a:endParaRPr lang="en-US" sz="1400" dirty="0"/>
          </a:p>
        </p:txBody>
      </p:sp>
      <p:sp>
        <p:nvSpPr>
          <p:cNvPr id="9" name="ArUco marker licence"/>
          <p:cNvSpPr txBox="1"/>
          <p:nvPr/>
        </p:nvSpPr>
        <p:spPr>
          <a:xfrm>
            <a:off x="4937760" y="1124712"/>
            <a:ext cx="868680" cy="274320"/>
          </a:xfrm>
          <a:prstGeom prst="rect">
            <a:avLst/>
          </a:prstGeom>
          <a:noFill/>
          <a:ln/>
        </p:spPr>
        <p:txBody>
          <a:bodyPr wrap="square" lIns="0" tIns="0" rIns="0" bIns="0" rtlCol="0" anchor="ctr"/>
          <a:lstStyle/>
          <a:p>
            <a:pPr algn="r" indent="0" marL="0">
              <a:buNone/>
            </a:pPr>
            <a:r>
              <a:rPr lang="en-US" sz="1000" dirty="0">
                <a:solidFill>
                  <a:srgbClr val="CFE8E8"/>
                </a:solidFill>
              </a:rPr>
              <a:t>in OpenCV</a:t>
            </a:r>
            <a:endParaRPr lang="en-US" sz="1000" dirty="0"/>
          </a:p>
        </p:txBody>
      </p:sp>
      <p:sp>
        <p:nvSpPr>
          <p:cNvPr id="10" name="ArUco marker text"/>
          <p:cNvSpPr txBox="1"/>
          <p:nvPr/>
        </p:nvSpPr>
        <p:spPr>
          <a:xfrm>
            <a:off x="3383280" y="1435608"/>
            <a:ext cx="2377440" cy="384048"/>
          </a:xfrm>
          <a:prstGeom prst="rect">
            <a:avLst/>
          </a:prstGeom>
          <a:noFill/>
          <a:ln/>
        </p:spPr>
        <p:txBody>
          <a:bodyPr wrap="square" lIns="0" tIns="0" rIns="0" bIns="0" rtlCol="0" anchor="t"/>
          <a:lstStyle/>
          <a:p>
            <a:pPr indent="0" marL="0">
              <a:buNone/>
            </a:pPr>
            <a:r>
              <a:rPr lang="en-US" sz="1100" dirty="0">
                <a:solidFill>
                  <a:srgbClr val="FFFFFF"/>
                </a:solidFill>
              </a:rPr>
              <a:t>Known-size scale, about ±2–5%</a:t>
            </a:r>
            <a:endParaRPr lang="en-US" sz="1100" dirty="0"/>
          </a:p>
        </p:txBody>
      </p:sp>
      <p:sp>
        <p:nvSpPr>
          <p:cNvPr id="11" name="Tool MobileSAM"/>
          <p:cNvSpPr/>
          <p:nvPr/>
        </p:nvSpPr>
        <p:spPr>
          <a:xfrm>
            <a:off x="6035040" y="1051560"/>
            <a:ext cx="2651760" cy="841248"/>
          </a:xfrm>
          <a:prstGeom prst="roundRect">
            <a:avLst>
              <a:gd name="adj" fmla="val 10870"/>
            </a:avLst>
          </a:prstGeom>
          <a:solidFill>
            <a:srgbClr val="FFFFFF">
              <a:alpha val="12000"/>
            </a:srgbClr>
          </a:solidFill>
          <a:ln w="9525">
            <a:solidFill>
              <a:srgbClr val="FFFFFF">
                <a:alpha val="45000"/>
              </a:srgbClr>
            </a:solidFill>
            <a:prstDash val="solid"/>
          </a:ln>
        </p:spPr>
      </p:sp>
      <p:sp>
        <p:nvSpPr>
          <p:cNvPr id="12" name="MobileSAM name"/>
          <p:cNvSpPr txBox="1"/>
          <p:nvPr/>
        </p:nvSpPr>
        <p:spPr>
          <a:xfrm>
            <a:off x="6172200" y="1124712"/>
            <a:ext cx="1600200" cy="274320"/>
          </a:xfrm>
          <a:prstGeom prst="rect">
            <a:avLst/>
          </a:prstGeom>
          <a:noFill/>
          <a:ln/>
        </p:spPr>
        <p:txBody>
          <a:bodyPr wrap="square" lIns="0" tIns="0" rIns="0" bIns="0" rtlCol="0" anchor="ctr"/>
          <a:lstStyle/>
          <a:p>
            <a:pPr indent="0" marL="0">
              <a:buNone/>
            </a:pPr>
            <a:r>
              <a:rPr lang="en-US" sz="1400" b="1" dirty="0">
                <a:solidFill>
                  <a:srgbClr val="FFFFFF"/>
                </a:solidFill>
              </a:rPr>
              <a:t>MobileSAM</a:t>
            </a:r>
            <a:endParaRPr lang="en-US" sz="1400" dirty="0"/>
          </a:p>
        </p:txBody>
      </p:sp>
      <p:sp>
        <p:nvSpPr>
          <p:cNvPr id="13" name="MobileSAM licence"/>
          <p:cNvSpPr txBox="1"/>
          <p:nvPr/>
        </p:nvSpPr>
        <p:spPr>
          <a:xfrm>
            <a:off x="7726680" y="1124712"/>
            <a:ext cx="868680" cy="274320"/>
          </a:xfrm>
          <a:prstGeom prst="rect">
            <a:avLst/>
          </a:prstGeom>
          <a:noFill/>
          <a:ln/>
        </p:spPr>
        <p:txBody>
          <a:bodyPr wrap="square" lIns="0" tIns="0" rIns="0" bIns="0" rtlCol="0" anchor="ctr"/>
          <a:lstStyle/>
          <a:p>
            <a:pPr algn="r" indent="0" marL="0">
              <a:buNone/>
            </a:pPr>
            <a:r>
              <a:rPr lang="en-US" sz="1000" dirty="0">
                <a:solidFill>
                  <a:srgbClr val="CFE8E8"/>
                </a:solidFill>
              </a:rPr>
              <a:t>Apache-2.0</a:t>
            </a:r>
            <a:endParaRPr lang="en-US" sz="1000" dirty="0"/>
          </a:p>
        </p:txBody>
      </p:sp>
      <p:sp>
        <p:nvSpPr>
          <p:cNvPr id="14" name="MobileSAM text"/>
          <p:cNvSpPr txBox="1"/>
          <p:nvPr/>
        </p:nvSpPr>
        <p:spPr>
          <a:xfrm>
            <a:off x="6172200" y="1435608"/>
            <a:ext cx="2377440" cy="384048"/>
          </a:xfrm>
          <a:prstGeom prst="rect">
            <a:avLst/>
          </a:prstGeom>
          <a:noFill/>
          <a:ln/>
        </p:spPr>
        <p:txBody>
          <a:bodyPr wrap="square" lIns="0" tIns="0" rIns="0" bIns="0" rtlCol="0" anchor="t"/>
          <a:lstStyle/>
          <a:p>
            <a:pPr indent="0" marL="0">
              <a:buNone/>
            </a:pPr>
            <a:r>
              <a:rPr lang="en-US" sz="1100" dirty="0">
                <a:solidFill>
                  <a:srgbClr val="FFFFFF"/>
                </a:solidFill>
              </a:rPr>
              <a:t>Cuts the block face out of the photo</a:t>
            </a:r>
            <a:endParaRPr lang="en-US" sz="1100" dirty="0"/>
          </a:p>
        </p:txBody>
      </p:sp>
      <p:sp>
        <p:nvSpPr>
          <p:cNvPr id="15" name="Tool YOLOX / YOLO-nano"/>
          <p:cNvSpPr/>
          <p:nvPr/>
        </p:nvSpPr>
        <p:spPr>
          <a:xfrm>
            <a:off x="457200" y="2011680"/>
            <a:ext cx="2651760" cy="841248"/>
          </a:xfrm>
          <a:prstGeom prst="roundRect">
            <a:avLst>
              <a:gd name="adj" fmla="val 10870"/>
            </a:avLst>
          </a:prstGeom>
          <a:solidFill>
            <a:srgbClr val="FFFFFF">
              <a:alpha val="12000"/>
            </a:srgbClr>
          </a:solidFill>
          <a:ln w="9525">
            <a:solidFill>
              <a:srgbClr val="FFFFFF">
                <a:alpha val="45000"/>
              </a:srgbClr>
            </a:solidFill>
            <a:prstDash val="solid"/>
          </a:ln>
        </p:spPr>
      </p:sp>
      <p:sp>
        <p:nvSpPr>
          <p:cNvPr id="16" name="YOLOX / YOLO-nano name"/>
          <p:cNvSpPr txBox="1"/>
          <p:nvPr/>
        </p:nvSpPr>
        <p:spPr>
          <a:xfrm>
            <a:off x="594360" y="2084832"/>
            <a:ext cx="1600200" cy="274320"/>
          </a:xfrm>
          <a:prstGeom prst="rect">
            <a:avLst/>
          </a:prstGeom>
          <a:noFill/>
          <a:ln/>
        </p:spPr>
        <p:txBody>
          <a:bodyPr wrap="square" lIns="0" tIns="0" rIns="0" bIns="0" rtlCol="0" anchor="ctr"/>
          <a:lstStyle/>
          <a:p>
            <a:pPr indent="0" marL="0">
              <a:buNone/>
            </a:pPr>
            <a:r>
              <a:rPr lang="en-US" sz="1400" b="1" dirty="0">
                <a:solidFill>
                  <a:srgbClr val="FFFFFF"/>
                </a:solidFill>
              </a:rPr>
              <a:t>YOLOX / YOLO-nano</a:t>
            </a:r>
            <a:endParaRPr lang="en-US" sz="1400" dirty="0"/>
          </a:p>
        </p:txBody>
      </p:sp>
      <p:sp>
        <p:nvSpPr>
          <p:cNvPr id="17" name="YOLOX / YOLO-nano licence"/>
          <p:cNvSpPr txBox="1"/>
          <p:nvPr/>
        </p:nvSpPr>
        <p:spPr>
          <a:xfrm>
            <a:off x="2148840" y="2084832"/>
            <a:ext cx="868680" cy="274320"/>
          </a:xfrm>
          <a:prstGeom prst="rect">
            <a:avLst/>
          </a:prstGeom>
          <a:noFill/>
          <a:ln/>
        </p:spPr>
        <p:txBody>
          <a:bodyPr wrap="square" lIns="0" tIns="0" rIns="0" bIns="0" rtlCol="0" anchor="ctr"/>
          <a:lstStyle/>
          <a:p>
            <a:pPr algn="r" indent="0" marL="0">
              <a:buNone/>
            </a:pPr>
            <a:r>
              <a:rPr lang="en-US" sz="1000" dirty="0">
                <a:solidFill>
                  <a:srgbClr val="CFE8E8"/>
                </a:solidFill>
              </a:rPr>
              <a:t>Apache-2.0 / small</a:t>
            </a:r>
            <a:endParaRPr lang="en-US" sz="1000" dirty="0"/>
          </a:p>
        </p:txBody>
      </p:sp>
      <p:sp>
        <p:nvSpPr>
          <p:cNvPr id="18" name="YOLOX / YOLO-nano text"/>
          <p:cNvSpPr txBox="1"/>
          <p:nvPr/>
        </p:nvSpPr>
        <p:spPr>
          <a:xfrm>
            <a:off x="594360" y="2395728"/>
            <a:ext cx="2377440" cy="384048"/>
          </a:xfrm>
          <a:prstGeom prst="rect">
            <a:avLst/>
          </a:prstGeom>
          <a:noFill/>
          <a:ln/>
        </p:spPr>
        <p:txBody>
          <a:bodyPr wrap="square" lIns="0" tIns="0" rIns="0" bIns="0" rtlCol="0" anchor="t"/>
          <a:lstStyle/>
          <a:p>
            <a:pPr indent="0" marL="0">
              <a:buNone/>
            </a:pPr>
            <a:r>
              <a:rPr lang="en-US" sz="1100" dirty="0">
                <a:solidFill>
                  <a:srgbClr val="FFFFFF"/>
                </a:solidFill>
              </a:rPr>
              <a:t>Cracks, holes and chips</a:t>
            </a:r>
            <a:endParaRPr lang="en-US" sz="1100" dirty="0"/>
          </a:p>
        </p:txBody>
      </p:sp>
      <p:sp>
        <p:nvSpPr>
          <p:cNvPr id="19" name="Tool ONNX Runtime"/>
          <p:cNvSpPr/>
          <p:nvPr/>
        </p:nvSpPr>
        <p:spPr>
          <a:xfrm>
            <a:off x="3246120" y="2011680"/>
            <a:ext cx="2651760" cy="841248"/>
          </a:xfrm>
          <a:prstGeom prst="roundRect">
            <a:avLst>
              <a:gd name="adj" fmla="val 10870"/>
            </a:avLst>
          </a:prstGeom>
          <a:solidFill>
            <a:srgbClr val="FFFFFF">
              <a:alpha val="12000"/>
            </a:srgbClr>
          </a:solidFill>
          <a:ln w="9525">
            <a:solidFill>
              <a:srgbClr val="FFFFFF">
                <a:alpha val="45000"/>
              </a:srgbClr>
            </a:solidFill>
            <a:prstDash val="solid"/>
          </a:ln>
        </p:spPr>
      </p:sp>
      <p:sp>
        <p:nvSpPr>
          <p:cNvPr id="20" name="ONNX Runtime name"/>
          <p:cNvSpPr txBox="1"/>
          <p:nvPr/>
        </p:nvSpPr>
        <p:spPr>
          <a:xfrm>
            <a:off x="3383280" y="2084832"/>
            <a:ext cx="1600200" cy="274320"/>
          </a:xfrm>
          <a:prstGeom prst="rect">
            <a:avLst/>
          </a:prstGeom>
          <a:noFill/>
          <a:ln/>
        </p:spPr>
        <p:txBody>
          <a:bodyPr wrap="square" lIns="0" tIns="0" rIns="0" bIns="0" rtlCol="0" anchor="ctr"/>
          <a:lstStyle/>
          <a:p>
            <a:pPr indent="0" marL="0">
              <a:buNone/>
            </a:pPr>
            <a:r>
              <a:rPr lang="en-US" sz="1400" b="1" dirty="0">
                <a:solidFill>
                  <a:srgbClr val="FFFFFF"/>
                </a:solidFill>
              </a:rPr>
              <a:t>ONNX Runtime</a:t>
            </a:r>
            <a:endParaRPr lang="en-US" sz="1400" dirty="0"/>
          </a:p>
        </p:txBody>
      </p:sp>
      <p:sp>
        <p:nvSpPr>
          <p:cNvPr id="21" name="ONNX Runtime licence"/>
          <p:cNvSpPr txBox="1"/>
          <p:nvPr/>
        </p:nvSpPr>
        <p:spPr>
          <a:xfrm>
            <a:off x="4937760" y="2084832"/>
            <a:ext cx="868680" cy="274320"/>
          </a:xfrm>
          <a:prstGeom prst="rect">
            <a:avLst/>
          </a:prstGeom>
          <a:noFill/>
          <a:ln/>
        </p:spPr>
        <p:txBody>
          <a:bodyPr wrap="square" lIns="0" tIns="0" rIns="0" bIns="0" rtlCol="0" anchor="ctr"/>
          <a:lstStyle/>
          <a:p>
            <a:pPr algn="r" indent="0" marL="0">
              <a:buNone/>
            </a:pPr>
            <a:r>
              <a:rPr lang="en-US" sz="1000" dirty="0">
                <a:solidFill>
                  <a:srgbClr val="CFE8E8"/>
                </a:solidFill>
              </a:rPr>
              <a:t>MIT</a:t>
            </a:r>
            <a:endParaRPr lang="en-US" sz="1000" dirty="0"/>
          </a:p>
        </p:txBody>
      </p:sp>
      <p:sp>
        <p:nvSpPr>
          <p:cNvPr id="22" name="ONNX Runtime text"/>
          <p:cNvSpPr txBox="1"/>
          <p:nvPr/>
        </p:nvSpPr>
        <p:spPr>
          <a:xfrm>
            <a:off x="3383280" y="2395728"/>
            <a:ext cx="2377440" cy="384048"/>
          </a:xfrm>
          <a:prstGeom prst="rect">
            <a:avLst/>
          </a:prstGeom>
          <a:noFill/>
          <a:ln/>
        </p:spPr>
        <p:txBody>
          <a:bodyPr wrap="square" lIns="0" tIns="0" rIns="0" bIns="0" rtlCol="0" anchor="t"/>
          <a:lstStyle/>
          <a:p>
            <a:pPr indent="0" marL="0">
              <a:buNone/>
            </a:pPr>
            <a:r>
              <a:rPr lang="en-US" sz="1100" dirty="0">
                <a:solidFill>
                  <a:srgbClr val="FFFFFF"/>
                </a:solidFill>
              </a:rPr>
              <a:t>Runs the models on a plain CPU</a:t>
            </a:r>
            <a:endParaRPr lang="en-US" sz="1100" dirty="0"/>
          </a:p>
        </p:txBody>
      </p:sp>
      <p:sp>
        <p:nvSpPr>
          <p:cNvPr id="23" name="Tool NumPy + FastAPI"/>
          <p:cNvSpPr/>
          <p:nvPr/>
        </p:nvSpPr>
        <p:spPr>
          <a:xfrm>
            <a:off x="6035040" y="2011680"/>
            <a:ext cx="2651760" cy="841248"/>
          </a:xfrm>
          <a:prstGeom prst="roundRect">
            <a:avLst>
              <a:gd name="adj" fmla="val 10870"/>
            </a:avLst>
          </a:prstGeom>
          <a:solidFill>
            <a:srgbClr val="FFFFFF">
              <a:alpha val="12000"/>
            </a:srgbClr>
          </a:solidFill>
          <a:ln w="9525">
            <a:solidFill>
              <a:srgbClr val="FFFFFF">
                <a:alpha val="45000"/>
              </a:srgbClr>
            </a:solidFill>
            <a:prstDash val="solid"/>
          </a:ln>
        </p:spPr>
      </p:sp>
      <p:sp>
        <p:nvSpPr>
          <p:cNvPr id="24" name="NumPy + FastAPI name"/>
          <p:cNvSpPr txBox="1"/>
          <p:nvPr/>
        </p:nvSpPr>
        <p:spPr>
          <a:xfrm>
            <a:off x="6172200" y="2084832"/>
            <a:ext cx="1600200" cy="274320"/>
          </a:xfrm>
          <a:prstGeom prst="rect">
            <a:avLst/>
          </a:prstGeom>
          <a:noFill/>
          <a:ln/>
        </p:spPr>
        <p:txBody>
          <a:bodyPr wrap="square" lIns="0" tIns="0" rIns="0" bIns="0" rtlCol="0" anchor="ctr"/>
          <a:lstStyle/>
          <a:p>
            <a:pPr indent="0" marL="0">
              <a:buNone/>
            </a:pPr>
            <a:r>
              <a:rPr lang="en-US" sz="1400" b="1" dirty="0">
                <a:solidFill>
                  <a:srgbClr val="FFFFFF"/>
                </a:solidFill>
              </a:rPr>
              <a:t>NumPy + FastAPI</a:t>
            </a:r>
            <a:endParaRPr lang="en-US" sz="1400" dirty="0"/>
          </a:p>
        </p:txBody>
      </p:sp>
      <p:sp>
        <p:nvSpPr>
          <p:cNvPr id="25" name="NumPy + FastAPI licence"/>
          <p:cNvSpPr txBox="1"/>
          <p:nvPr/>
        </p:nvSpPr>
        <p:spPr>
          <a:xfrm>
            <a:off x="7726680" y="2084832"/>
            <a:ext cx="868680" cy="274320"/>
          </a:xfrm>
          <a:prstGeom prst="rect">
            <a:avLst/>
          </a:prstGeom>
          <a:noFill/>
          <a:ln/>
        </p:spPr>
        <p:txBody>
          <a:bodyPr wrap="square" lIns="0" tIns="0" rIns="0" bIns="0" rtlCol="0" anchor="ctr"/>
          <a:lstStyle/>
          <a:p>
            <a:pPr algn="r" indent="0" marL="0">
              <a:buNone/>
            </a:pPr>
            <a:r>
              <a:rPr lang="en-US" sz="1000" dirty="0">
                <a:solidFill>
                  <a:srgbClr val="CFE8E8"/>
                </a:solidFill>
              </a:rPr>
              <a:t>BSD / MIT</a:t>
            </a:r>
            <a:endParaRPr lang="en-US" sz="1000" dirty="0"/>
          </a:p>
        </p:txBody>
      </p:sp>
      <p:sp>
        <p:nvSpPr>
          <p:cNvPr id="26" name="NumPy + FastAPI text"/>
          <p:cNvSpPr txBox="1"/>
          <p:nvPr/>
        </p:nvSpPr>
        <p:spPr>
          <a:xfrm>
            <a:off x="6172200" y="2395728"/>
            <a:ext cx="2377440" cy="384048"/>
          </a:xfrm>
          <a:prstGeom prst="rect">
            <a:avLst/>
          </a:prstGeom>
          <a:noFill/>
          <a:ln/>
        </p:spPr>
        <p:txBody>
          <a:bodyPr wrap="square" lIns="0" tIns="0" rIns="0" bIns="0" rtlCol="0" anchor="t"/>
          <a:lstStyle/>
          <a:p>
            <a:pPr indent="0" marL="0">
              <a:buNone/>
            </a:pPr>
            <a:r>
              <a:rPr lang="en-US" sz="1100" dirty="0">
                <a:solidFill>
                  <a:srgbClr val="FFFFFF"/>
                </a:solidFill>
              </a:rPr>
              <a:t>The 10-line maths and the service</a:t>
            </a:r>
            <a:endParaRPr lang="en-US" sz="1100" dirty="0"/>
          </a:p>
        </p:txBody>
      </p:sp>
      <p:sp>
        <p:nvSpPr>
          <p:cNvPr id="27" name="Stat 1"/>
          <p:cNvSpPr txBox="1"/>
          <p:nvPr/>
        </p:nvSpPr>
        <p:spPr>
          <a:xfrm>
            <a:off x="457200" y="3017520"/>
            <a:ext cx="2651760" cy="457200"/>
          </a:xfrm>
          <a:prstGeom prst="rect">
            <a:avLst/>
          </a:prstGeom>
          <a:noFill/>
          <a:ln/>
        </p:spPr>
        <p:txBody>
          <a:bodyPr wrap="square" lIns="0" tIns="0" rIns="0" bIns="0" rtlCol="0" anchor="ctr"/>
          <a:lstStyle/>
          <a:p>
            <a:pPr indent="0" marL="0">
              <a:buNone/>
            </a:pPr>
            <a:r>
              <a:rPr lang="en-US" sz="2600" b="1" dirty="0">
                <a:solidFill>
                  <a:srgbClr val="F59E0B"/>
                </a:solidFill>
              </a:rPr>
              <a:t>CPU only</a:t>
            </a:r>
            <a:endParaRPr lang="en-US" sz="2600" dirty="0"/>
          </a:p>
        </p:txBody>
      </p:sp>
      <p:sp>
        <p:nvSpPr>
          <p:cNvPr id="28" name="Stat 1 label"/>
          <p:cNvSpPr txBox="1"/>
          <p:nvPr/>
        </p:nvSpPr>
        <p:spPr>
          <a:xfrm>
            <a:off x="457200" y="3474720"/>
            <a:ext cx="2651760" cy="274320"/>
          </a:xfrm>
          <a:prstGeom prst="rect">
            <a:avLst/>
          </a:prstGeom>
          <a:noFill/>
          <a:ln/>
        </p:spPr>
        <p:txBody>
          <a:bodyPr wrap="square" lIns="0" tIns="0" rIns="0" bIns="0" rtlCol="0" anchor="t"/>
          <a:lstStyle/>
          <a:p>
            <a:pPr indent="0" marL="0">
              <a:buNone/>
            </a:pPr>
            <a:r>
              <a:rPr lang="en-US" sz="1200" dirty="0">
                <a:solidFill>
                  <a:srgbClr val="FFFFFF"/>
                </a:solidFill>
              </a:rPr>
              <a:t>no GPU, works offline</a:t>
            </a:r>
            <a:endParaRPr lang="en-US" sz="1200" dirty="0"/>
          </a:p>
        </p:txBody>
      </p:sp>
      <p:sp>
        <p:nvSpPr>
          <p:cNvPr id="29" name="Stat 2"/>
          <p:cNvSpPr txBox="1"/>
          <p:nvPr/>
        </p:nvSpPr>
        <p:spPr>
          <a:xfrm>
            <a:off x="3246120" y="3017520"/>
            <a:ext cx="2651760" cy="457200"/>
          </a:xfrm>
          <a:prstGeom prst="rect">
            <a:avLst/>
          </a:prstGeom>
          <a:noFill/>
          <a:ln/>
        </p:spPr>
        <p:txBody>
          <a:bodyPr wrap="square" lIns="0" tIns="0" rIns="0" bIns="0" rtlCol="0" anchor="ctr"/>
          <a:lstStyle/>
          <a:p>
            <a:pPr indent="0" marL="0">
              <a:buNone/>
            </a:pPr>
            <a:r>
              <a:rPr lang="en-US" sz="2600" b="1" dirty="0">
                <a:solidFill>
                  <a:srgbClr val="F59E0B"/>
                </a:solidFill>
              </a:rPr>
              <a:t>±2–5%</a:t>
            </a:r>
            <a:endParaRPr lang="en-US" sz="2600" dirty="0"/>
          </a:p>
        </p:txBody>
      </p:sp>
      <p:sp>
        <p:nvSpPr>
          <p:cNvPr id="30" name="Stat 2 label"/>
          <p:cNvSpPr txBox="1"/>
          <p:nvPr/>
        </p:nvSpPr>
        <p:spPr>
          <a:xfrm>
            <a:off x="3246120" y="3474720"/>
            <a:ext cx="2651760" cy="274320"/>
          </a:xfrm>
          <a:prstGeom prst="rect">
            <a:avLst/>
          </a:prstGeom>
          <a:noFill/>
          <a:ln/>
        </p:spPr>
        <p:txBody>
          <a:bodyPr wrap="square" lIns="0" tIns="0" rIns="0" bIns="0" rtlCol="0" anchor="t"/>
          <a:lstStyle/>
          <a:p>
            <a:pPr indent="0" marL="0">
              <a:buNone/>
            </a:pPr>
            <a:r>
              <a:rPr lang="en-US" sz="1200" dirty="0">
                <a:solidFill>
                  <a:srgbClr val="FFFFFF"/>
                </a:solidFill>
              </a:rPr>
              <a:t>scale from a printed marker</a:t>
            </a:r>
            <a:endParaRPr lang="en-US" sz="1200" dirty="0"/>
          </a:p>
        </p:txBody>
      </p:sp>
      <p:sp>
        <p:nvSpPr>
          <p:cNvPr id="31" name="Stat 3"/>
          <p:cNvSpPr txBox="1"/>
          <p:nvPr/>
        </p:nvSpPr>
        <p:spPr>
          <a:xfrm>
            <a:off x="6035040" y="3017520"/>
            <a:ext cx="2651760" cy="457200"/>
          </a:xfrm>
          <a:prstGeom prst="rect">
            <a:avLst/>
          </a:prstGeom>
          <a:noFill/>
          <a:ln/>
        </p:spPr>
        <p:txBody>
          <a:bodyPr wrap="square" lIns="0" tIns="0" rIns="0" bIns="0" rtlCol="0" anchor="ctr"/>
          <a:lstStyle/>
          <a:p>
            <a:pPr indent="0" marL="0">
              <a:buNone/>
            </a:pPr>
            <a:r>
              <a:rPr lang="en-US" sz="2600" b="1" dirty="0">
                <a:solidFill>
                  <a:srgbClr val="F59E0B"/>
                </a:solidFill>
              </a:rPr>
              <a:t>No per-call cost</a:t>
            </a:r>
            <a:endParaRPr lang="en-US" sz="2600" dirty="0"/>
          </a:p>
        </p:txBody>
      </p:sp>
      <p:sp>
        <p:nvSpPr>
          <p:cNvPr id="32" name="Stat 3 label"/>
          <p:cNvSpPr txBox="1"/>
          <p:nvPr/>
        </p:nvSpPr>
        <p:spPr>
          <a:xfrm>
            <a:off x="6035040" y="3474720"/>
            <a:ext cx="2651760" cy="274320"/>
          </a:xfrm>
          <a:prstGeom prst="rect">
            <a:avLst/>
          </a:prstGeom>
          <a:noFill/>
          <a:ln/>
        </p:spPr>
        <p:txBody>
          <a:bodyPr wrap="square" lIns="0" tIns="0" rIns="0" bIns="0" rtlCol="0" anchor="t"/>
          <a:lstStyle/>
          <a:p>
            <a:pPr indent="0" marL="0">
              <a:buNone/>
            </a:pPr>
            <a:r>
              <a:rPr lang="en-US" sz="1200" dirty="0">
                <a:solidFill>
                  <a:srgbClr val="FFFFFF"/>
                </a:solidFill>
              </a:rPr>
              <a:t>once the models are in place</a:t>
            </a:r>
            <a:endParaRPr lang="en-US" sz="1200" dirty="0"/>
          </a:p>
        </p:txBody>
      </p:sp>
      <p:sp>
        <p:nvSpPr>
          <p:cNvPr id="33" name="Next heading"/>
          <p:cNvSpPr txBox="1"/>
          <p:nvPr/>
        </p:nvSpPr>
        <p:spPr>
          <a:xfrm>
            <a:off x="457200" y="3886200"/>
            <a:ext cx="1828800" cy="256032"/>
          </a:xfrm>
          <a:prstGeom prst="rect">
            <a:avLst/>
          </a:prstGeom>
          <a:noFill/>
          <a:ln/>
        </p:spPr>
        <p:txBody>
          <a:bodyPr wrap="square" lIns="0" tIns="0" rIns="0" bIns="0" rtlCol="0" anchor="ctr"/>
          <a:lstStyle/>
          <a:p>
            <a:pPr indent="0" marL="0">
              <a:buNone/>
            </a:pPr>
            <a:r>
              <a:rPr lang="en-US" sz="1400" b="1" dirty="0">
                <a:solidFill>
                  <a:srgbClr val="FFFFFF"/>
                </a:solidFill>
              </a:rPr>
              <a:t>Next steps</a:t>
            </a:r>
            <a:endParaRPr lang="en-US" sz="1400" dirty="0"/>
          </a:p>
        </p:txBody>
      </p:sp>
      <p:sp>
        <p:nvSpPr>
          <p:cNvPr id="34" name="Next left"/>
          <p:cNvSpPr txBox="1"/>
          <p:nvPr/>
        </p:nvSpPr>
        <p:spPr>
          <a:xfrm>
            <a:off x="457200" y="4160520"/>
            <a:ext cx="4023360" cy="6400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rPr>
              <a:t>Make the marker mandatory in every photo</a:t>
            </a:r>
            <a:endParaRPr lang="en-US" sz="1100" dirty="0"/>
          </a:p>
          <a:p>
            <a:pPr marL="342900" indent="-342900">
              <a:spcAft>
                <a:spcPts val="300"/>
              </a:spcAft>
              <a:buSzPct val="100000"/>
              <a:buChar char="•"/>
            </a:pPr>
            <a:r>
              <a:rPr lang="en-US" sz="1100" dirty="0">
                <a:solidFill>
                  <a:srgbClr val="FFFFFF"/>
                </a:solidFill>
              </a:rPr>
              <a:t>Label 300–500 face and defect photos per class</a:t>
            </a:r>
            <a:endParaRPr lang="en-US" sz="1100" dirty="0"/>
          </a:p>
        </p:txBody>
      </p:sp>
      <p:sp>
        <p:nvSpPr>
          <p:cNvPr id="35" name="Next right"/>
          <p:cNvSpPr txBox="1"/>
          <p:nvPr/>
        </p:nvSpPr>
        <p:spPr>
          <a:xfrm>
            <a:off x="4663440" y="4160520"/>
            <a:ext cx="4023360" cy="6400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rPr>
              <a:t>Train and export the two small models to ONNX</a:t>
            </a:r>
            <a:endParaRPr lang="en-US" sz="1100" dirty="0"/>
          </a:p>
          <a:p>
            <a:pPr marL="342900" indent="-342900">
              <a:spcAft>
                <a:spcPts val="300"/>
              </a:spcAft>
              <a:buSzPct val="100000"/>
              <a:buChar char="•"/>
            </a:pPr>
            <a:r>
              <a:rPr lang="en-US" sz="1100" dirty="0">
                <a:solidFill>
                  <a:srgbClr val="FFFFFF"/>
                </a:solidFill>
              </a:rPr>
              <a:t>Compare with tape on 30–50 blocks to report the real error</a:t>
            </a:r>
            <a:endParaRPr lang="en-US" sz="1100" dirty="0"/>
          </a:p>
        </p:txBody>
      </p:sp>
    </p:spTree>
  </p:cSld>
  <p:clrMapOvr>
    <a:masterClrMapping/>
  </p:clrMapOvr>
</p:sld>
</file>

<file path=ppt/theme/theme1.xml><?xml version="1.0" encoding="utf-8"?>
<a:theme xmlns:a="http://schemas.openxmlformats.org/drawingml/2006/main" name="GraniteMeasure">
  <a:themeElements>
    <a:clrScheme name="GraniteMeasure">
      <a:dk1>
        <a:srgbClr val="1E293B"/>
      </a:dk1>
      <a:lt1>
        <a:srgbClr val="FFFFFF"/>
      </a:lt1>
      <a:dk2>
        <a:srgbClr val="0F5257"/>
      </a:dk2>
      <a:lt2>
        <a:srgbClr val="F1F5F4"/>
      </a:lt2>
      <a:accent1>
        <a:srgbClr val="15949B"/>
      </a:accent1>
      <a:accent2>
        <a:srgbClr val="F59E0B"/>
      </a:accent2>
      <a:accent3>
        <a:srgbClr val="DC2626"/>
      </a:accent3>
      <a:accent4>
        <a:srgbClr val="94A3B8"/>
      </a:accent4>
      <a:accent5>
        <a:srgbClr val="0F5257"/>
      </a:accent5>
      <a:accent6>
        <a:srgbClr val="64748B"/>
      </a:accent6>
      <a:hlink>
        <a:srgbClr val="0F5257"/>
      </a:hlink>
      <a:folHlink>
        <a:srgbClr val="64748B"/>
      </a:folHlink>
    </a:clrScheme>
    <a:fontScheme name="GraniteMeas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GraniteMeasure - how the measuring works</dc:title>
  <dc:subject>PptxGenJS Presentation</dc:subject>
  <dc:creator>PptxGenJS</dc:creator>
  <cp:lastModifiedBy>PptxGenJS</cp:lastModifiedBy>
  <cp:revision>1</cp:revision>
  <dcterms:created xsi:type="dcterms:W3CDTF">2026-10-22T06:58:08Z</dcterms:created>
  <dcterms:modified xsi:type="dcterms:W3CDTF">2026-10-22T06:58:08Z</dcterms:modified>
</cp:coreProperties>
</file>